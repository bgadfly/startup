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bold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14b69b7d174b2739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14b69b7d174b2739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14b69b7d174b2739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14b69b7d174b2739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14b69b7d174b2739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14b69b7d174b2739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4b69b7d174b2739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4b69b7d174b2739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14b69b7d174b2739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14b69b7d174b2739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14b69b7d174b2739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h14b69b7d174b2739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14b69b7d174b2739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h14b69b7d174b2739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14b69b7d174b2739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h14b69b7d174b2739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h14b69b7d174b2739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h14b69b7d174b2739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h14b69b7d174b2739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h14b69b7d174b2739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h14b69b7d174b2739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h14b69b7d174b2739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h14b69b7d174b2739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h14b69b7d174b2739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h14b69b7d174b2739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h14b69b7d174b2739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14b69b7d174b2739_13_0)">
  <p:cSld name="Generated (h14b69b7d174b2739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0" y="0"/>
              <a:ext cx="28575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" name="Google Shape;58;p14"/>
            <p:cNvGrpSpPr/>
            <p:nvPr/>
          </p:nvGrpSpPr>
          <p:grpSpPr>
            <a:xfrm>
              <a:off x="381000" y="381000"/>
              <a:ext cx="1333500" cy="228600"/>
              <a:chOff x="0" y="0"/>
              <a:chExt cx="1333500" cy="22860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0" y="0"/>
                <a:ext cx="1333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 txBox="1"/>
              <p:nvPr/>
            </p:nvSpPr>
            <p:spPr>
              <a:xfrm>
                <a:off x="95250" y="190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IT STARTUP LAB</a:t>
                </a:r>
                <a:endParaRPr b="0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sp>
          <p:nvSpPr>
            <p:cNvPr id="61" name="Google Shape;61;p14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7429500" y="952500"/>
              <a:ext cx="381000" cy="9525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4"/>
          <p:cNvSpPr txBox="1"/>
          <p:nvPr/>
        </p:nvSpPr>
        <p:spPr>
          <a:xfrm>
            <a:off x="571500" y="1238250"/>
            <a:ext cx="64770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rPr>
              <a:t>Конфликт в команде: анализ, риски и оптимальное решение</a:t>
            </a:r>
            <a:endParaRPr b="1" sz="3200">
              <a:solidFill>
                <a:srgbClr val="1A253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B5B7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Стартап «Онлайн ИИ-консультант по наращиванию и системам замещения волос»</a:t>
            </a:r>
            <a:endParaRPr b="0" sz="1500">
              <a:solidFill>
                <a:srgbClr val="3B5B7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Команда: </a:t>
            </a:r>
            <a:r>
              <a:rPr b="0" lang="en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Елена и Кристина</a:t>
            </a:r>
            <a:endParaRPr b="0" sz="1100">
              <a:solidFill>
                <a:srgbClr val="1A253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600"/>
              </a:spcAft>
              <a:buNone/>
            </a:pPr>
            <a:r>
              <a:rPr b="0" lang="en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Дисциплина: Стартап в информационных технологиях (Практическое занятие №9)</a:t>
            </a:r>
            <a:endParaRPr b="0" sz="10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9" name="Google Shape;69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" name="Google Shape;70;p15"/>
            <p:cNvGrpSpPr/>
            <p:nvPr/>
          </p:nvGrpSpPr>
          <p:grpSpPr>
            <a:xfrm>
              <a:off x="7429500" y="285750"/>
              <a:ext cx="1333500" cy="228600"/>
              <a:chOff x="0" y="0"/>
              <a:chExt cx="1333500" cy="228600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0" y="0"/>
                <a:ext cx="1333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5"/>
              <p:cNvSpPr txBox="1"/>
              <p:nvPr/>
            </p:nvSpPr>
            <p:spPr>
              <a:xfrm>
                <a:off x="95250" y="190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IT STARTUP LAB</a:t>
                </a:r>
                <a:endParaRPr b="0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73" name="Google Shape;73;p15"/>
            <p:cNvGrpSpPr/>
            <p:nvPr/>
          </p:nvGrpSpPr>
          <p:grpSpPr>
            <a:xfrm>
              <a:off x="381000" y="952500"/>
              <a:ext cx="8382000" cy="19200"/>
              <a:chOff x="0" y="0"/>
              <a:chExt cx="8382000" cy="19200"/>
            </a:xfrm>
          </p:grpSpPr>
          <p:sp>
            <p:nvSpPr>
              <p:cNvPr id="74" name="Google Shape;74;p15"/>
              <p:cNvSpPr/>
              <p:nvPr/>
            </p:nvSpPr>
            <p:spPr>
              <a:xfrm>
                <a:off x="0" y="0"/>
                <a:ext cx="76200" cy="19200"/>
              </a:xfrm>
              <a:prstGeom prst="rect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76200" y="0"/>
                <a:ext cx="83058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6" name="Google Shape;76;p15"/>
            <p:cNvSpPr txBox="1"/>
            <p:nvPr/>
          </p:nvSpPr>
          <p:spPr>
            <a:xfrm>
              <a:off x="381000" y="285750"/>
              <a:ext cx="666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6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Разногласия в видении продукта ставят под угрозу разработку</a:t>
              </a:r>
              <a:endParaRPr b="1" sz="186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7" name="Google Shape;77;p15"/>
          <p:cNvSpPr txBox="1"/>
          <p:nvPr/>
        </p:nvSpPr>
        <p:spPr>
          <a:xfrm>
            <a:off x="381000" y="11430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1400">
                <a:solidFill>
                  <a:srgbClr val="3B5B7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Кейс №2: «Конфликт в команде»</a:t>
            </a:r>
            <a:endParaRPr b="0" sz="1400">
              <a:solidFill>
                <a:srgbClr val="3B5B7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381000" y="1524000"/>
            <a:ext cx="8382000" cy="1428900"/>
            <a:chOff x="0" y="0"/>
            <a:chExt cx="8382000" cy="1428900"/>
          </a:xfrm>
        </p:grpSpPr>
        <p:sp>
          <p:nvSpPr>
            <p:cNvPr id="79" name="Google Shape;79;p15"/>
            <p:cNvSpPr/>
            <p:nvPr/>
          </p:nvSpPr>
          <p:spPr>
            <a:xfrm>
              <a:off x="0" y="0"/>
              <a:ext cx="83820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14300">
              <a:solidFill>
                <a:srgbClr val="E07A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0" y="0"/>
              <a:ext cx="57300" cy="14289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" name="Google Shape;81;p15"/>
            <p:cNvGrpSpPr/>
            <p:nvPr/>
          </p:nvGrpSpPr>
          <p:grpSpPr>
            <a:xfrm>
              <a:off x="274320" y="228600"/>
              <a:ext cx="228600" cy="228600"/>
              <a:chOff x="19050" y="19050"/>
              <a:chExt cx="190500" cy="190500"/>
            </a:xfrm>
          </p:grpSpPr>
          <p:sp>
            <p:nvSpPr>
              <p:cNvPr id="82" name="Google Shape;82;p15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E07A5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114300" y="66675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" name="Google Shape;84;p15"/>
            <p:cNvSpPr txBox="1"/>
            <p:nvPr/>
          </p:nvSpPr>
          <p:spPr>
            <a:xfrm>
              <a:off x="609600" y="171450"/>
              <a:ext cx="7524900" cy="10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Критический риск стартапа</a:t>
              </a:r>
              <a:endParaRPr b="0" sz="110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Ключевые члены команды не могут прийти к согласию по стратегическим вопросам развития продукта.</a:t>
              </a:r>
              <a:endParaRPr b="0" sz="12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Возникает серьезный риск критического замедления разработки и возможного полного распада стартапа из-за потери общего видения и внутренней разрозненности.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5" name="Google Shape;85;p15"/>
          <p:cNvSpPr txBox="1"/>
          <p:nvPr/>
        </p:nvSpPr>
        <p:spPr>
          <a:xfrm>
            <a:off x="381000" y="3143250"/>
            <a:ext cx="8382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en" sz="900">
                <a:solidFill>
                  <a:srgbClr val="3B5B7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Условия успешного запуска (требуют согласованности):</a:t>
            </a:r>
            <a:endParaRPr b="0" sz="900">
              <a:solidFill>
                <a:srgbClr val="3B5B7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86" name="Google Shape;86;p15"/>
          <p:cNvGrpSpPr/>
          <p:nvPr/>
        </p:nvGrpSpPr>
        <p:grpSpPr>
          <a:xfrm>
            <a:off x="381000" y="3476625"/>
            <a:ext cx="2600400" cy="1190700"/>
            <a:chOff x="0" y="0"/>
            <a:chExt cx="2600400" cy="1190700"/>
          </a:xfrm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2600400" cy="11907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0" y="0"/>
              <a:ext cx="2600400" cy="28500"/>
            </a:xfrm>
            <a:prstGeom prst="rect">
              <a:avLst/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2400" y="152400"/>
              <a:ext cx="2295600" cy="8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5B7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01. ИИ-модуль</a:t>
              </a:r>
              <a:endParaRPr b="0" sz="1000">
                <a:solidFill>
                  <a:srgbClr val="3B5B7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60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Разработка и точная настройка базового модуля искусственного интеллекта.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267075" y="3476625"/>
            <a:ext cx="2600400" cy="1190700"/>
            <a:chOff x="0" y="0"/>
            <a:chExt cx="2600400" cy="1190700"/>
          </a:xfrm>
        </p:grpSpPr>
        <p:sp>
          <p:nvSpPr>
            <p:cNvPr id="91" name="Google Shape;91;p15"/>
            <p:cNvSpPr/>
            <p:nvPr/>
          </p:nvSpPr>
          <p:spPr>
            <a:xfrm>
              <a:off x="0" y="0"/>
              <a:ext cx="2600400" cy="11907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0" y="0"/>
              <a:ext cx="2600400" cy="28500"/>
            </a:xfrm>
            <a:prstGeom prst="rect">
              <a:avLst/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152400" y="152400"/>
              <a:ext cx="2295600" cy="8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5B7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02. База мастеров</a:t>
              </a:r>
              <a:endParaRPr b="0" sz="1000">
                <a:solidFill>
                  <a:srgbClr val="3B5B7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60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Интеграция единой структуры данных и подключение базы экспертов.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6153150" y="3476625"/>
            <a:ext cx="2610000" cy="1190700"/>
            <a:chOff x="0" y="0"/>
            <a:chExt cx="2610000" cy="11907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2610000" cy="11907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0" y="0"/>
              <a:ext cx="2610000" cy="28500"/>
            </a:xfrm>
            <a:prstGeom prst="rect">
              <a:avLst/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152400" y="152400"/>
              <a:ext cx="2305200" cy="8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B5B7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03. Клиентский сервис</a:t>
              </a:r>
              <a:endParaRPr b="0" sz="1000">
                <a:solidFill>
                  <a:srgbClr val="3B5B7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60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Выстраивание бесшовного и эффективного сервиса обслуживания пользователей.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p16"/>
          <p:cNvGrpSpPr/>
          <p:nvPr/>
        </p:nvGrpSpPr>
        <p:grpSpPr>
          <a:xfrm>
            <a:off x="7429500" y="285750"/>
            <a:ext cx="1333500" cy="228600"/>
            <a:chOff x="0" y="0"/>
            <a:chExt cx="1333500" cy="228600"/>
          </a:xfrm>
        </p:grpSpPr>
        <p:sp>
          <p:nvSpPr>
            <p:cNvPr id="104" name="Google Shape;104;p16"/>
            <p:cNvSpPr/>
            <p:nvPr/>
          </p:nvSpPr>
          <p:spPr>
            <a:xfrm>
              <a:off x="0" y="0"/>
              <a:ext cx="1333500" cy="228600"/>
            </a:xfrm>
            <a:prstGeom prst="roundRect">
              <a:avLst>
                <a:gd fmla="val 16666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95250" y="1905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STARTUP LAB</a:t>
              </a:r>
              <a:endParaRPr b="0" sz="8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381000" y="952500"/>
            <a:ext cx="8382000" cy="19200"/>
            <a:chOff x="0" y="0"/>
            <a:chExt cx="8382000" cy="19200"/>
          </a:xfrm>
        </p:grpSpPr>
        <p:sp>
          <p:nvSpPr>
            <p:cNvPr id="107" name="Google Shape;107;p16"/>
            <p:cNvSpPr/>
            <p:nvPr/>
          </p:nvSpPr>
          <p:spPr>
            <a:xfrm>
              <a:off x="0" y="0"/>
              <a:ext cx="76200" cy="192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76200" y="0"/>
              <a:ext cx="83058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16"/>
          <p:cNvSpPr txBox="1"/>
          <p:nvPr/>
        </p:nvSpPr>
        <p:spPr>
          <a:xfrm>
            <a:off x="381000" y="190500"/>
            <a:ext cx="685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rPr>
              <a:t>Высокая экспертиза команды нивелируется отсутствием единого видения</a:t>
            </a:r>
            <a:endParaRPr b="1" sz="2000">
              <a:solidFill>
                <a:srgbClr val="1A253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0" name="Google Shape;110;p16"/>
          <p:cNvGrpSpPr/>
          <p:nvPr/>
        </p:nvGrpSpPr>
        <p:grpSpPr>
          <a:xfrm>
            <a:off x="381000" y="1143000"/>
            <a:ext cx="4048200" cy="3619500"/>
            <a:chOff x="0" y="0"/>
            <a:chExt cx="4048200" cy="36195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4048200" cy="3619500"/>
            </a:xfrm>
            <a:prstGeom prst="roundRect">
              <a:avLst>
                <a:gd fmla="val 15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0" y="0"/>
              <a:ext cx="38100" cy="3619500"/>
            </a:xfrm>
            <a:prstGeom prst="roundRect">
              <a:avLst>
                <a:gd fmla="val 50000" name="adj"/>
              </a:avLst>
            </a:prstGeom>
            <a:solidFill>
              <a:srgbClr val="81B2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16"/>
            <p:cNvGrpSpPr/>
            <p:nvPr/>
          </p:nvGrpSpPr>
          <p:grpSpPr>
            <a:xfrm>
              <a:off x="209550" y="209550"/>
              <a:ext cx="190500" cy="190500"/>
              <a:chOff x="19050" y="19050"/>
              <a:chExt cx="190500" cy="190500"/>
            </a:xfrm>
          </p:grpSpPr>
          <p:sp>
            <p:nvSpPr>
              <p:cNvPr id="114" name="Google Shape;114;p16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81B29A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6"/>
              <p:cNvSpPr/>
              <p:nvPr/>
            </p:nvSpPr>
            <p:spPr>
              <a:xfrm>
                <a:off x="66675" y="76200"/>
                <a:ext cx="104700" cy="71400"/>
              </a:xfrm>
              <a:custGeom>
                <a:rect b="b" l="l" r="r" t="t"/>
                <a:pathLst>
                  <a:path extrusionOk="0" h="120000" w="120000">
                    <a:moveTo>
                      <a:pt x="0" y="64000"/>
                    </a:moveTo>
                    <a:lnTo>
                      <a:pt x="38182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81B2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" name="Google Shape;116;p16"/>
            <p:cNvSpPr txBox="1"/>
            <p:nvPr/>
          </p:nvSpPr>
          <p:spPr>
            <a:xfrm>
              <a:off x="495300" y="171450"/>
              <a:ext cx="333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200">
                  <a:solidFill>
                    <a:srgbClr val="81B29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Сильные стороны (Strengths)</a:t>
              </a:r>
              <a:endParaRPr b="0" sz="1200">
                <a:solidFill>
                  <a:srgbClr val="81B29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190500" y="609600"/>
              <a:ext cx="3667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Команда обладает высокой экспертизой и компетенциями.</a:t>
              </a:r>
              <a:endParaRPr/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Разные точки зрения могут дать более взвешенные решения.</a:t>
              </a:r>
              <a:endParaRPr/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Конфликт выявлен на ранней стадии.</a:t>
              </a:r>
              <a:endParaRPr/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Все участники искренне заинтересованы в успехе продукта.</a:t>
              </a:r>
              <a:endParaRPr/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4714875" y="1143000"/>
            <a:ext cx="4048200" cy="3619500"/>
            <a:chOff x="0" y="0"/>
            <a:chExt cx="4048200" cy="3619500"/>
          </a:xfrm>
        </p:grpSpPr>
        <p:sp>
          <p:nvSpPr>
            <p:cNvPr id="119" name="Google Shape;119;p16"/>
            <p:cNvSpPr/>
            <p:nvPr/>
          </p:nvSpPr>
          <p:spPr>
            <a:xfrm>
              <a:off x="0" y="0"/>
              <a:ext cx="4048200" cy="3619500"/>
            </a:xfrm>
            <a:prstGeom prst="roundRect">
              <a:avLst>
                <a:gd fmla="val 15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0" y="0"/>
              <a:ext cx="38100" cy="3619500"/>
            </a:xfrm>
            <a:prstGeom prst="roundRect">
              <a:avLst>
                <a:gd fmla="val 50000" name="adj"/>
              </a:avLst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" name="Google Shape;121;p16"/>
            <p:cNvGrpSpPr/>
            <p:nvPr/>
          </p:nvGrpSpPr>
          <p:grpSpPr>
            <a:xfrm>
              <a:off x="209550" y="209550"/>
              <a:ext cx="190500" cy="190500"/>
              <a:chOff x="19050" y="19050"/>
              <a:chExt cx="190500" cy="190500"/>
            </a:xfrm>
          </p:grpSpPr>
          <p:sp>
            <p:nvSpPr>
              <p:cNvPr id="122" name="Google Shape;122;p16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E07A5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114300" y="66675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4" name="Google Shape;124;p16"/>
            <p:cNvSpPr txBox="1"/>
            <p:nvPr/>
          </p:nvSpPr>
          <p:spPr>
            <a:xfrm>
              <a:off x="495300" y="171450"/>
              <a:ext cx="333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200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Слабые стороны (Weaknesses)</a:t>
              </a:r>
              <a:endParaRPr b="0" sz="120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190500" y="609600"/>
              <a:ext cx="3667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Нет единого видения развития продукта.</a:t>
              </a:r>
              <a:endParaRPr/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Драгоценное время тратится на разногласия, а не на разработку.</a:t>
              </a:r>
              <a:endParaRPr/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Эмоциональное напряжение снижает продуктивность и создает риск потери мотивации.</a:t>
              </a:r>
              <a:endParaRPr/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Отсутствуют чёткие процессы принятия решений.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7"/>
          <p:cNvGrpSpPr/>
          <p:nvPr/>
        </p:nvGrpSpPr>
        <p:grpSpPr>
          <a:xfrm>
            <a:off x="381000" y="238125"/>
            <a:ext cx="8382000" cy="733575"/>
            <a:chOff x="381000" y="238125"/>
            <a:chExt cx="8382000" cy="733575"/>
          </a:xfrm>
        </p:grpSpPr>
        <p:grpSp>
          <p:nvGrpSpPr>
            <p:cNvPr id="131" name="Google Shape;131;p17"/>
            <p:cNvGrpSpPr/>
            <p:nvPr/>
          </p:nvGrpSpPr>
          <p:grpSpPr>
            <a:xfrm>
              <a:off x="7429500" y="285750"/>
              <a:ext cx="1333500" cy="228600"/>
              <a:chOff x="0" y="0"/>
              <a:chExt cx="1333500" cy="228600"/>
            </a:xfrm>
          </p:grpSpPr>
          <p:sp>
            <p:nvSpPr>
              <p:cNvPr id="132" name="Google Shape;132;p17"/>
              <p:cNvSpPr/>
              <p:nvPr/>
            </p:nvSpPr>
            <p:spPr>
              <a:xfrm>
                <a:off x="0" y="0"/>
                <a:ext cx="1333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7"/>
              <p:cNvSpPr txBox="1"/>
              <p:nvPr/>
            </p:nvSpPr>
            <p:spPr>
              <a:xfrm>
                <a:off x="95250" y="190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IT STARTUP LAB</a:t>
                </a:r>
                <a:endParaRPr b="0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34" name="Google Shape;134;p17"/>
            <p:cNvGrpSpPr/>
            <p:nvPr/>
          </p:nvGrpSpPr>
          <p:grpSpPr>
            <a:xfrm>
              <a:off x="381000" y="952500"/>
              <a:ext cx="8382000" cy="19200"/>
              <a:chOff x="0" y="0"/>
              <a:chExt cx="8382000" cy="19200"/>
            </a:xfrm>
          </p:grpSpPr>
          <p:sp>
            <p:nvSpPr>
              <p:cNvPr id="135" name="Google Shape;135;p17"/>
              <p:cNvSpPr/>
              <p:nvPr/>
            </p:nvSpPr>
            <p:spPr>
              <a:xfrm>
                <a:off x="0" y="0"/>
                <a:ext cx="76200" cy="19200"/>
              </a:xfrm>
              <a:prstGeom prst="rect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7"/>
              <p:cNvSpPr/>
              <p:nvPr/>
            </p:nvSpPr>
            <p:spPr>
              <a:xfrm>
                <a:off x="76200" y="0"/>
                <a:ext cx="83058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7" name="Google Shape;137;p17"/>
            <p:cNvSpPr txBox="1"/>
            <p:nvPr/>
          </p:nvSpPr>
          <p:spPr>
            <a:xfrm>
              <a:off x="381000" y="238125"/>
              <a:ext cx="685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Риск распада команды требует внедрения формализованных процессов</a:t>
              </a:r>
              <a:endParaRPr b="1" sz="20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8" name="Google Shape;138;p17"/>
          <p:cNvGrpSpPr/>
          <p:nvPr/>
        </p:nvGrpSpPr>
        <p:grpSpPr>
          <a:xfrm>
            <a:off x="381000" y="1190625"/>
            <a:ext cx="4048200" cy="3571800"/>
            <a:chOff x="0" y="0"/>
            <a:chExt cx="4048200" cy="3571800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4048200" cy="3571800"/>
            </a:xfrm>
            <a:prstGeom prst="roundRect">
              <a:avLst>
                <a:gd fmla="val 21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0" y="0"/>
              <a:ext cx="4048200" cy="38100"/>
            </a:xfrm>
            <a:prstGeom prst="roundRect">
              <a:avLst>
                <a:gd fmla="val 50000" name="adj"/>
              </a:avLst>
            </a:prstGeom>
            <a:solidFill>
              <a:srgbClr val="81B2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1" name="Google Shape;141;p17"/>
            <p:cNvGrpSpPr/>
            <p:nvPr/>
          </p:nvGrpSpPr>
          <p:grpSpPr>
            <a:xfrm>
              <a:off x="209550" y="209550"/>
              <a:ext cx="190500" cy="190500"/>
              <a:chOff x="19050" y="19050"/>
              <a:chExt cx="190500" cy="190500"/>
            </a:xfrm>
          </p:grpSpPr>
          <p:sp>
            <p:nvSpPr>
              <p:cNvPr id="142" name="Google Shape;142;p17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81B29A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7"/>
              <p:cNvSpPr/>
              <p:nvPr/>
            </p:nvSpPr>
            <p:spPr>
              <a:xfrm>
                <a:off x="66675" y="76200"/>
                <a:ext cx="104700" cy="71400"/>
              </a:xfrm>
              <a:custGeom>
                <a:rect b="b" l="l" r="r" t="t"/>
                <a:pathLst>
                  <a:path extrusionOk="0" h="120000" w="120000">
                    <a:moveTo>
                      <a:pt x="0" y="64000"/>
                    </a:moveTo>
                    <a:lnTo>
                      <a:pt x="38182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81B2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4" name="Google Shape;144;p17"/>
            <p:cNvSpPr txBox="1"/>
            <p:nvPr/>
          </p:nvSpPr>
          <p:spPr>
            <a:xfrm>
              <a:off x="495300" y="171450"/>
              <a:ext cx="333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81B29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Возможности (Opportunities)</a:t>
              </a:r>
              <a:endParaRPr b="0" sz="1300">
                <a:solidFill>
                  <a:srgbClr val="81B29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45" name="Google Shape;145;p17"/>
            <p:cNvCxnSpPr/>
            <p:nvPr/>
          </p:nvCxnSpPr>
          <p:spPr>
            <a:xfrm>
              <a:off x="190500" y="533400"/>
              <a:ext cx="36672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0FDF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" name="Google Shape;146;p17"/>
            <p:cNvSpPr txBox="1"/>
            <p:nvPr/>
          </p:nvSpPr>
          <p:spPr>
            <a:xfrm>
              <a:off x="190500" y="666750"/>
              <a:ext cx="3667200" cy="27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1B29A"/>
                  </a:solidFill>
                </a:rPr>
                <a:t>•</a:t>
              </a:r>
              <a:r>
                <a:rPr lang="en"/>
                <a:t>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Использовать конфликт для улучшения коммуникации и пересмотра ролей.</a:t>
              </a:r>
              <a:endParaRPr/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1B29A"/>
                  </a:solidFill>
                </a:rPr>
                <a:t>•</a:t>
              </a:r>
              <a:r>
                <a:rPr lang="en"/>
                <a:t>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Внедрить формализованные процессы принятия решений.</a:t>
              </a:r>
              <a:endParaRPr/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1B29A"/>
                  </a:solidFill>
                </a:rPr>
                <a:t>•</a:t>
              </a:r>
              <a:r>
                <a:rPr lang="en"/>
                <a:t>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Создать культуру конструктивной обратной связи.</a:t>
              </a:r>
              <a:endParaRPr/>
            </a:p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" sz="1200">
                  <a:solidFill>
                    <a:srgbClr val="81B29A"/>
                  </a:solidFill>
                </a:rPr>
                <a:t>•</a:t>
              </a:r>
              <a:r>
                <a:rPr lang="en"/>
                <a:t>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Привлечь внешнего ментора или медиатора.</a:t>
              </a:r>
              <a:endParaRPr/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4714875" y="1190625"/>
            <a:ext cx="4048200" cy="3571800"/>
            <a:chOff x="0" y="0"/>
            <a:chExt cx="4048200" cy="35718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4048200" cy="3571800"/>
            </a:xfrm>
            <a:prstGeom prst="roundRect">
              <a:avLst>
                <a:gd fmla="val 21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0" y="0"/>
              <a:ext cx="4048200" cy="38100"/>
            </a:xfrm>
            <a:prstGeom prst="roundRect">
              <a:avLst>
                <a:gd fmla="val 50000" name="adj"/>
              </a:avLst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" name="Google Shape;150;p17"/>
            <p:cNvGrpSpPr/>
            <p:nvPr/>
          </p:nvGrpSpPr>
          <p:grpSpPr>
            <a:xfrm>
              <a:off x="209550" y="209550"/>
              <a:ext cx="190500" cy="190500"/>
              <a:chOff x="19050" y="19050"/>
              <a:chExt cx="190500" cy="190500"/>
            </a:xfrm>
          </p:grpSpPr>
          <p:sp>
            <p:nvSpPr>
              <p:cNvPr id="151" name="Google Shape;151;p17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E07A5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7"/>
              <p:cNvSpPr/>
              <p:nvPr/>
            </p:nvSpPr>
            <p:spPr>
              <a:xfrm>
                <a:off x="114300" y="66675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" name="Google Shape;153;p17"/>
            <p:cNvSpPr txBox="1"/>
            <p:nvPr/>
          </p:nvSpPr>
          <p:spPr>
            <a:xfrm>
              <a:off x="495300" y="171450"/>
              <a:ext cx="333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Угрозы (Threats)</a:t>
              </a:r>
              <a:endParaRPr b="0" sz="130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54" name="Google Shape;154;p17"/>
            <p:cNvCxnSpPr/>
            <p:nvPr/>
          </p:nvCxnSpPr>
          <p:spPr>
            <a:xfrm>
              <a:off x="190500" y="533400"/>
              <a:ext cx="36672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FF5F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5" name="Google Shape;155;p17"/>
            <p:cNvSpPr txBox="1"/>
            <p:nvPr/>
          </p:nvSpPr>
          <p:spPr>
            <a:xfrm>
              <a:off x="190500" y="666750"/>
              <a:ext cx="3667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07A5F"/>
                  </a:solidFill>
                </a:rPr>
                <a:t>•</a:t>
              </a:r>
              <a:r>
                <a:rPr lang="en"/>
                <a:t>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Распад команды и потеря ключевых специалистов.</a:t>
              </a:r>
              <a:endParaRPr/>
            </a:p>
            <a:p>
              <a:pPr indent="0" lvl="0" marL="0" rtl="0" algn="l">
                <a:spcBef>
                  <a:spcPts val="1050"/>
                </a:spcBef>
                <a:spcAft>
                  <a:spcPts val="1050"/>
                </a:spcAft>
                <a:buNone/>
              </a:pPr>
              <a:r>
                <a:rPr b="1" lang="en" sz="1200">
                  <a:solidFill>
                    <a:srgbClr val="E07A5F"/>
                  </a:solidFill>
                </a:rPr>
                <a:t>•</a:t>
              </a:r>
              <a:r>
                <a:rPr lang="en"/>
                <a:t> </a:t>
              </a: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Критическое замедление или полная остановка разработки.</a:t>
              </a:r>
              <a:endParaRPr/>
            </a:p>
          </p:txBody>
        </p:sp>
        <p:grpSp>
          <p:nvGrpSpPr>
            <p:cNvPr id="156" name="Google Shape;156;p17"/>
            <p:cNvGrpSpPr/>
            <p:nvPr/>
          </p:nvGrpSpPr>
          <p:grpSpPr>
            <a:xfrm>
              <a:off x="138113" y="1852613"/>
              <a:ext cx="3771900" cy="1581300"/>
              <a:chOff x="-4762" y="-4762"/>
              <a:chExt cx="3771900" cy="1581300"/>
            </a:xfrm>
          </p:grpSpPr>
          <p:pic>
            <p:nvPicPr>
              <p:cNvPr id="157" name="Google Shape;157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3771900" cy="1581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8" name="Google Shape;158;p17"/>
              <p:cNvSpPr txBox="1"/>
              <p:nvPr/>
            </p:nvSpPr>
            <p:spPr>
              <a:xfrm>
                <a:off x="142875" y="114300"/>
                <a:ext cx="3476700" cy="13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E07A5F"/>
                    </a:solidFill>
                    <a:latin typeface="Inter"/>
                    <a:ea typeface="Inter"/>
                    <a:cs typeface="Inter"/>
                    <a:sym typeface="Inter"/>
                  </a:rPr>
                  <a:t>Ключевой критический риск</a:t>
                </a:r>
                <a:endParaRPr b="1" sz="800">
                  <a:solidFill>
                    <a:srgbClr val="E07A5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07A5F"/>
                    </a:solidFill>
                  </a:rPr>
                  <a:t>▲</a:t>
                </a:r>
                <a:r>
                  <a:rPr lang="en"/>
                  <a:t> </a:t>
                </a:r>
                <a:r>
                  <a:rPr b="0" lang="en" sz="950">
                    <a:solidFill>
                      <a:srgbClr val="1A253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Упущенные рыночные возможности и потеря инвесторской привлекательности.</a:t>
                </a:r>
                <a:endParaRPr/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07A5F"/>
                    </a:solidFill>
                  </a:rPr>
                  <a:t>▲</a:t>
                </a:r>
                <a:r>
                  <a:rPr lang="en"/>
                  <a:t> </a:t>
                </a:r>
                <a:r>
                  <a:rPr b="0" lang="en" sz="950">
                    <a:solidFill>
                      <a:srgbClr val="1A253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Серьезные репутационные и финансовые риски для стартапа.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64" name="Google Shape;164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5" name="Google Shape;165;p18"/>
            <p:cNvGrpSpPr/>
            <p:nvPr/>
          </p:nvGrpSpPr>
          <p:grpSpPr>
            <a:xfrm>
              <a:off x="7429500" y="285750"/>
              <a:ext cx="1333500" cy="228600"/>
              <a:chOff x="0" y="0"/>
              <a:chExt cx="1333500" cy="228600"/>
            </a:xfrm>
          </p:grpSpPr>
          <p:sp>
            <p:nvSpPr>
              <p:cNvPr id="166" name="Google Shape;166;p18"/>
              <p:cNvSpPr/>
              <p:nvPr/>
            </p:nvSpPr>
            <p:spPr>
              <a:xfrm>
                <a:off x="0" y="0"/>
                <a:ext cx="1333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8"/>
              <p:cNvSpPr txBox="1"/>
              <p:nvPr/>
            </p:nvSpPr>
            <p:spPr>
              <a:xfrm>
                <a:off x="95250" y="190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IT STARTUP LAB</a:t>
                </a:r>
                <a:endParaRPr b="0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68" name="Google Shape;168;p18"/>
            <p:cNvGrpSpPr/>
            <p:nvPr/>
          </p:nvGrpSpPr>
          <p:grpSpPr>
            <a:xfrm>
              <a:off x="381000" y="952500"/>
              <a:ext cx="8382000" cy="19200"/>
              <a:chOff x="0" y="0"/>
              <a:chExt cx="8382000" cy="19200"/>
            </a:xfrm>
          </p:grpSpPr>
          <p:sp>
            <p:nvSpPr>
              <p:cNvPr id="169" name="Google Shape;169;p18"/>
              <p:cNvSpPr/>
              <p:nvPr/>
            </p:nvSpPr>
            <p:spPr>
              <a:xfrm>
                <a:off x="0" y="0"/>
                <a:ext cx="76200" cy="19200"/>
              </a:xfrm>
              <a:prstGeom prst="rect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>
                <a:off x="76200" y="0"/>
                <a:ext cx="83058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1" name="Google Shape;171;p18"/>
            <p:cNvSpPr txBox="1"/>
            <p:nvPr/>
          </p:nvSpPr>
          <p:spPr>
            <a:xfrm>
              <a:off x="381000" y="285750"/>
              <a:ext cx="666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6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Пять стратегий преодоления внутрикомандного конфликта</a:t>
              </a:r>
              <a:endParaRPr b="1" sz="186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2" name="Google Shape;172;p18"/>
          <p:cNvGrpSpPr/>
          <p:nvPr/>
        </p:nvGrpSpPr>
        <p:grpSpPr>
          <a:xfrm>
            <a:off x="381000" y="1143000"/>
            <a:ext cx="8382000" cy="647700"/>
            <a:chOff x="0" y="0"/>
            <a:chExt cx="8382000" cy="647700"/>
          </a:xfrm>
        </p:grpSpPr>
        <p:sp>
          <p:nvSpPr>
            <p:cNvPr id="173" name="Google Shape;173;p18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882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0" y="0"/>
              <a:ext cx="38100" cy="647700"/>
            </a:xfrm>
            <a:prstGeom prst="roundRect">
              <a:avLst>
                <a:gd fmla="val 50000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171450" y="190500"/>
              <a:ext cx="266700" cy="266700"/>
            </a:xfrm>
            <a:prstGeom prst="ellipse">
              <a:avLst/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 txBox="1"/>
            <p:nvPr/>
          </p:nvSpPr>
          <p:spPr>
            <a:xfrm>
              <a:off x="171450" y="19050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571500" y="114300"/>
              <a:ext cx="7620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Медиация и фасилитация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Привлечение независимой третьей стороны для объективного разрешения споров.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381000" y="1905000"/>
            <a:ext cx="8382000" cy="647700"/>
            <a:chOff x="0" y="0"/>
            <a:chExt cx="8382000" cy="647700"/>
          </a:xfrm>
        </p:grpSpPr>
        <p:sp>
          <p:nvSpPr>
            <p:cNvPr id="179" name="Google Shape;179;p18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882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0" y="0"/>
              <a:ext cx="38100" cy="647700"/>
            </a:xfrm>
            <a:prstGeom prst="roundRect">
              <a:avLst>
                <a:gd fmla="val 50000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171450" y="190500"/>
              <a:ext cx="266700" cy="266700"/>
            </a:xfrm>
            <a:prstGeom prst="ellipse">
              <a:avLst/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171450" y="19050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571500" y="114300"/>
              <a:ext cx="7620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Разделение зон ответственности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Четкое разграничение полномочий и задач для минимизации точек пересечения.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381000" y="2667000"/>
            <a:ext cx="8382000" cy="647700"/>
            <a:chOff x="0" y="0"/>
            <a:chExt cx="8382000" cy="647700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882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0" y="0"/>
              <a:ext cx="38100" cy="647700"/>
            </a:xfrm>
            <a:prstGeom prst="roundRect">
              <a:avLst>
                <a:gd fmla="val 50000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171450" y="190500"/>
              <a:ext cx="266700" cy="266700"/>
            </a:xfrm>
            <a:prstGeom prst="ellipse">
              <a:avLst/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71450" y="19050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571500" y="114300"/>
              <a:ext cx="7620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Data-driven подход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Использование A/B тестирования и объективных метрик для урегулирования разногласий.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0" name="Google Shape;190;p18"/>
          <p:cNvGrpSpPr/>
          <p:nvPr/>
        </p:nvGrpSpPr>
        <p:grpSpPr>
          <a:xfrm>
            <a:off x="381000" y="3429000"/>
            <a:ext cx="8382000" cy="647700"/>
            <a:chOff x="0" y="0"/>
            <a:chExt cx="8382000" cy="647700"/>
          </a:xfrm>
        </p:grpSpPr>
        <p:sp>
          <p:nvSpPr>
            <p:cNvPr id="191" name="Google Shape;191;p18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882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0" y="0"/>
              <a:ext cx="38100" cy="647700"/>
            </a:xfrm>
            <a:prstGeom prst="roundRect">
              <a:avLst>
                <a:gd fmla="val 50000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171450" y="190500"/>
              <a:ext cx="266700" cy="266700"/>
            </a:xfrm>
            <a:prstGeom prst="ellipse">
              <a:avLst/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171450" y="19050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571500" y="114300"/>
              <a:ext cx="7620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Привлечение советника или ментора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Интеграция эксперта с правом решающего голоса для принятия ключевых решений.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381000" y="4191000"/>
            <a:ext cx="8382000" cy="647700"/>
            <a:chOff x="0" y="0"/>
            <a:chExt cx="8382000" cy="647700"/>
          </a:xfrm>
        </p:grpSpPr>
        <p:sp>
          <p:nvSpPr>
            <p:cNvPr id="197" name="Google Shape;197;p18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882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0" y="0"/>
              <a:ext cx="38100" cy="647700"/>
            </a:xfrm>
            <a:prstGeom prst="roundRect">
              <a:avLst>
                <a:gd fmla="val 50000" name="adj"/>
              </a:avLst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171450" y="190500"/>
              <a:ext cx="266700" cy="2667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171450" y="19050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571500" y="114300"/>
              <a:ext cx="7620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Реструктуризация команды</a:t>
              </a:r>
              <a:endParaRPr b="0" sz="110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Радикальная мера по изменению состава и структуры коллектива для выхода из кризиса.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19"/>
          <p:cNvGrpSpPr/>
          <p:nvPr/>
        </p:nvGrpSpPr>
        <p:grpSpPr>
          <a:xfrm>
            <a:off x="7429500" y="228600"/>
            <a:ext cx="1333500" cy="228600"/>
            <a:chOff x="0" y="0"/>
            <a:chExt cx="1333500" cy="228600"/>
          </a:xfrm>
        </p:grpSpPr>
        <p:sp>
          <p:nvSpPr>
            <p:cNvPr id="208" name="Google Shape;208;p19"/>
            <p:cNvSpPr/>
            <p:nvPr/>
          </p:nvSpPr>
          <p:spPr>
            <a:xfrm>
              <a:off x="0" y="0"/>
              <a:ext cx="1333500" cy="228600"/>
            </a:xfrm>
            <a:prstGeom prst="roundRect">
              <a:avLst>
                <a:gd fmla="val 16666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0" y="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STARTUP LAB</a:t>
              </a:r>
              <a:endParaRPr b="0" sz="8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10" name="Google Shape;210;p19"/>
          <p:cNvGrpSpPr/>
          <p:nvPr/>
        </p:nvGrpSpPr>
        <p:grpSpPr>
          <a:xfrm>
            <a:off x="381000" y="838200"/>
            <a:ext cx="8382000" cy="19200"/>
            <a:chOff x="0" y="0"/>
            <a:chExt cx="8382000" cy="19200"/>
          </a:xfrm>
        </p:grpSpPr>
        <p:sp>
          <p:nvSpPr>
            <p:cNvPr id="211" name="Google Shape;211;p19"/>
            <p:cNvSpPr/>
            <p:nvPr/>
          </p:nvSpPr>
          <p:spPr>
            <a:xfrm>
              <a:off x="0" y="0"/>
              <a:ext cx="76200" cy="192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76200" y="0"/>
              <a:ext cx="83058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19"/>
          <p:cNvSpPr txBox="1"/>
          <p:nvPr/>
        </p:nvSpPr>
        <p:spPr>
          <a:xfrm>
            <a:off x="381000" y="2286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rPr>
              <a:t>Каждое решение имеет компромиссы между скоростью и сохранением команды</a:t>
            </a:r>
            <a:endParaRPr b="1" sz="1700">
              <a:solidFill>
                <a:srgbClr val="1A253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4" name="Google Shape;214;p19"/>
          <p:cNvGrpSpPr/>
          <p:nvPr/>
        </p:nvGrpSpPr>
        <p:grpSpPr>
          <a:xfrm>
            <a:off x="381000" y="990600"/>
            <a:ext cx="2638500" cy="1828800"/>
            <a:chOff x="0" y="0"/>
            <a:chExt cx="2638500" cy="1828800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2638500" cy="18288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0" y="0"/>
              <a:ext cx="2638500" cy="304800"/>
            </a:xfrm>
            <a:prstGeom prst="roundRect">
              <a:avLst>
                <a:gd fmla="val 1875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0" y="247650"/>
              <a:ext cx="2638500" cy="573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114300" y="57150"/>
              <a:ext cx="2409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1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 1 (Медиация)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114300" y="381000"/>
              <a:ext cx="2409900" cy="609600"/>
            </a:xfrm>
            <a:prstGeom prst="roundRect">
              <a:avLst>
                <a:gd fmla="val 625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114300" y="381000"/>
              <a:ext cx="28500" cy="609600"/>
            </a:xfrm>
            <a:prstGeom prst="rect">
              <a:avLst/>
            </a:prstGeom>
            <a:solidFill>
              <a:srgbClr val="81B2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209550" y="419100"/>
              <a:ext cx="2257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2A7B5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Плюсы:</a:t>
              </a:r>
              <a:endParaRPr b="0" sz="950">
                <a:solidFill>
                  <a:srgbClr val="2A7B5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Объективный взгляд, структура, сохранение команды.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114300" y="1066800"/>
              <a:ext cx="2409900" cy="647700"/>
            </a:xfrm>
            <a:prstGeom prst="roundRect">
              <a:avLst>
                <a:gd fmla="val 5882" name="adj"/>
              </a:avLst>
            </a:prstGeom>
            <a:solidFill>
              <a:srgbClr val="FF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114300" y="1066800"/>
              <a:ext cx="28500" cy="6477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209550" y="1104900"/>
              <a:ext cx="22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Минусы:</a:t>
              </a:r>
              <a:endParaRPr b="0" sz="95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Требует времени, денег и готовности к диалогу.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5" name="Google Shape;225;p19"/>
          <p:cNvGrpSpPr/>
          <p:nvPr/>
        </p:nvGrpSpPr>
        <p:grpSpPr>
          <a:xfrm>
            <a:off x="3248025" y="990600"/>
            <a:ext cx="2638500" cy="1828800"/>
            <a:chOff x="0" y="0"/>
            <a:chExt cx="2638500" cy="1828800"/>
          </a:xfrm>
        </p:grpSpPr>
        <p:sp>
          <p:nvSpPr>
            <p:cNvPr id="226" name="Google Shape;226;p19"/>
            <p:cNvSpPr/>
            <p:nvPr/>
          </p:nvSpPr>
          <p:spPr>
            <a:xfrm>
              <a:off x="0" y="0"/>
              <a:ext cx="2638500" cy="18288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0" y="0"/>
              <a:ext cx="2638500" cy="304800"/>
            </a:xfrm>
            <a:prstGeom prst="roundRect">
              <a:avLst>
                <a:gd fmla="val 1875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0" y="247650"/>
              <a:ext cx="2638500" cy="573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114300" y="57150"/>
              <a:ext cx="2409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1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 2 (Разделение зон)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114300" y="381000"/>
              <a:ext cx="2409900" cy="609600"/>
            </a:xfrm>
            <a:prstGeom prst="roundRect">
              <a:avLst>
                <a:gd fmla="val 625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114300" y="381000"/>
              <a:ext cx="28500" cy="609600"/>
            </a:xfrm>
            <a:prstGeom prst="rect">
              <a:avLst/>
            </a:prstGeom>
            <a:solidFill>
              <a:srgbClr val="81B2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 txBox="1"/>
            <p:nvPr/>
          </p:nvSpPr>
          <p:spPr>
            <a:xfrm>
              <a:off x="209550" y="419100"/>
              <a:ext cx="2257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2A7B5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Плюсы:</a:t>
              </a:r>
              <a:endParaRPr b="0" sz="950">
                <a:solidFill>
                  <a:srgbClr val="2A7B5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Быстрота, чёткие границы.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114300" y="1066800"/>
              <a:ext cx="2409900" cy="647700"/>
            </a:xfrm>
            <a:prstGeom prst="roundRect">
              <a:avLst>
                <a:gd fmla="val 5882" name="adj"/>
              </a:avLst>
            </a:prstGeom>
            <a:solidFill>
              <a:srgbClr val="FF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114300" y="1066800"/>
              <a:ext cx="28500" cy="6477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 txBox="1"/>
            <p:nvPr/>
          </p:nvSpPr>
          <p:spPr>
            <a:xfrm>
              <a:off x="209550" y="1104900"/>
              <a:ext cx="22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Минусы:</a:t>
              </a:r>
              <a:endParaRPr b="0" sz="95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Фрагментация продукта, конфликты на стыке зон.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6" name="Google Shape;236;p19"/>
          <p:cNvGrpSpPr/>
          <p:nvPr/>
        </p:nvGrpSpPr>
        <p:grpSpPr>
          <a:xfrm>
            <a:off x="6124575" y="990600"/>
            <a:ext cx="2638500" cy="1828800"/>
            <a:chOff x="0" y="0"/>
            <a:chExt cx="2638500" cy="1828800"/>
          </a:xfrm>
        </p:grpSpPr>
        <p:sp>
          <p:nvSpPr>
            <p:cNvPr id="237" name="Google Shape;237;p19"/>
            <p:cNvSpPr/>
            <p:nvPr/>
          </p:nvSpPr>
          <p:spPr>
            <a:xfrm>
              <a:off x="0" y="0"/>
              <a:ext cx="2638500" cy="18288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0" y="0"/>
              <a:ext cx="2638500" cy="304800"/>
            </a:xfrm>
            <a:prstGeom prst="roundRect">
              <a:avLst>
                <a:gd fmla="val 1875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0" y="247650"/>
              <a:ext cx="2638500" cy="573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114300" y="57150"/>
              <a:ext cx="2409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1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 3 (Data-driven)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14300" y="381000"/>
              <a:ext cx="2409900" cy="609600"/>
            </a:xfrm>
            <a:prstGeom prst="roundRect">
              <a:avLst>
                <a:gd fmla="val 625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114300" y="381000"/>
              <a:ext cx="28500" cy="609600"/>
            </a:xfrm>
            <a:prstGeom prst="rect">
              <a:avLst/>
            </a:prstGeom>
            <a:solidFill>
              <a:srgbClr val="81B2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 txBox="1"/>
            <p:nvPr/>
          </p:nvSpPr>
          <p:spPr>
            <a:xfrm>
              <a:off x="209550" y="419100"/>
              <a:ext cx="2257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2A7B5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Плюсы:</a:t>
              </a:r>
              <a:endParaRPr b="0" sz="950">
                <a:solidFill>
                  <a:srgbClr val="2A7B5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Объективные критерии, инсайты.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14300" y="1066800"/>
              <a:ext cx="2409900" cy="647700"/>
            </a:xfrm>
            <a:prstGeom prst="roundRect">
              <a:avLst>
                <a:gd fmla="val 5882" name="adj"/>
              </a:avLst>
            </a:prstGeom>
            <a:solidFill>
              <a:srgbClr val="FF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114300" y="1066800"/>
              <a:ext cx="28500" cy="6477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 txBox="1"/>
            <p:nvPr/>
          </p:nvSpPr>
          <p:spPr>
            <a:xfrm>
              <a:off x="209550" y="1104900"/>
              <a:ext cx="22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Минусы:</a:t>
              </a:r>
              <a:endParaRPr b="0" sz="95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Требует ресурсов, не всё можно быстро протестировать.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7" name="Google Shape;247;p19"/>
          <p:cNvGrpSpPr/>
          <p:nvPr/>
        </p:nvGrpSpPr>
        <p:grpSpPr>
          <a:xfrm>
            <a:off x="1809750" y="2971800"/>
            <a:ext cx="2638500" cy="1828800"/>
            <a:chOff x="0" y="0"/>
            <a:chExt cx="2638500" cy="1828800"/>
          </a:xfrm>
        </p:grpSpPr>
        <p:sp>
          <p:nvSpPr>
            <p:cNvPr id="248" name="Google Shape;248;p19"/>
            <p:cNvSpPr/>
            <p:nvPr/>
          </p:nvSpPr>
          <p:spPr>
            <a:xfrm>
              <a:off x="0" y="0"/>
              <a:ext cx="2638500" cy="18288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0" y="0"/>
              <a:ext cx="2638500" cy="304800"/>
            </a:xfrm>
            <a:prstGeom prst="roundRect">
              <a:avLst>
                <a:gd fmla="val 1875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0" y="247650"/>
              <a:ext cx="2638500" cy="573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114300" y="57150"/>
              <a:ext cx="2409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1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 4 (Советник)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14300" y="381000"/>
              <a:ext cx="2409900" cy="609600"/>
            </a:xfrm>
            <a:prstGeom prst="roundRect">
              <a:avLst>
                <a:gd fmla="val 625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14300" y="381000"/>
              <a:ext cx="28500" cy="609600"/>
            </a:xfrm>
            <a:prstGeom prst="rect">
              <a:avLst/>
            </a:prstGeom>
            <a:solidFill>
              <a:srgbClr val="81B2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 txBox="1"/>
            <p:nvPr/>
          </p:nvSpPr>
          <p:spPr>
            <a:xfrm>
              <a:off x="209550" y="419100"/>
              <a:ext cx="2257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2A7B5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Плюсы:</a:t>
              </a:r>
              <a:endParaRPr b="0" sz="950">
                <a:solidFill>
                  <a:srgbClr val="2A7B5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Быстрое решение, авторитет.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114300" y="1066800"/>
              <a:ext cx="2409900" cy="647700"/>
            </a:xfrm>
            <a:prstGeom prst="roundRect">
              <a:avLst>
                <a:gd fmla="val 5882" name="adj"/>
              </a:avLst>
            </a:prstGeom>
            <a:solidFill>
              <a:srgbClr val="FF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114300" y="1066800"/>
              <a:ext cx="28500" cy="6477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209550" y="1104900"/>
              <a:ext cx="22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Минусы:</a:t>
              </a:r>
              <a:endParaRPr b="0" sz="95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Зависимость от одного человека, демотивация.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8" name="Google Shape;258;p19"/>
          <p:cNvGrpSpPr/>
          <p:nvPr/>
        </p:nvGrpSpPr>
        <p:grpSpPr>
          <a:xfrm>
            <a:off x="4686300" y="2971800"/>
            <a:ext cx="2638500" cy="1828800"/>
            <a:chOff x="0" y="0"/>
            <a:chExt cx="2638500" cy="1828800"/>
          </a:xfrm>
        </p:grpSpPr>
        <p:sp>
          <p:nvSpPr>
            <p:cNvPr id="259" name="Google Shape;259;p19"/>
            <p:cNvSpPr/>
            <p:nvPr/>
          </p:nvSpPr>
          <p:spPr>
            <a:xfrm>
              <a:off x="0" y="0"/>
              <a:ext cx="2638500" cy="18288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0" y="0"/>
              <a:ext cx="2638500" cy="304800"/>
            </a:xfrm>
            <a:prstGeom prst="roundRect">
              <a:avLst>
                <a:gd fmla="val 1875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0" y="247650"/>
              <a:ext cx="2638500" cy="573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 txBox="1"/>
            <p:nvPr/>
          </p:nvSpPr>
          <p:spPr>
            <a:xfrm>
              <a:off x="114300" y="57150"/>
              <a:ext cx="2409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1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 5 (Реструктуризация)</a:t>
              </a:r>
              <a:endParaRPr b="0" sz="11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114300" y="381000"/>
              <a:ext cx="2409900" cy="609600"/>
            </a:xfrm>
            <a:prstGeom prst="roundRect">
              <a:avLst>
                <a:gd fmla="val 625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114300" y="381000"/>
              <a:ext cx="28500" cy="609600"/>
            </a:xfrm>
            <a:prstGeom prst="rect">
              <a:avLst/>
            </a:prstGeom>
            <a:solidFill>
              <a:srgbClr val="81B2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209550" y="419100"/>
              <a:ext cx="2257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2A7B5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Плюсы:</a:t>
              </a:r>
              <a:endParaRPr b="0" sz="950">
                <a:solidFill>
                  <a:srgbClr val="2A7B5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Свежий взгляд.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114300" y="1066800"/>
              <a:ext cx="2409900" cy="647700"/>
            </a:xfrm>
            <a:prstGeom prst="roundRect">
              <a:avLst>
                <a:gd fmla="val 5882" name="adj"/>
              </a:avLst>
            </a:prstGeom>
            <a:solidFill>
              <a:srgbClr val="FF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114300" y="1066800"/>
              <a:ext cx="28500" cy="6477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 txBox="1"/>
            <p:nvPr/>
          </p:nvSpPr>
          <p:spPr>
            <a:xfrm>
              <a:off x="209550" y="1104900"/>
              <a:ext cx="22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Минусы:</a:t>
              </a:r>
              <a:endParaRPr b="0" sz="95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Высокие риски потери экспертизы и негатив для инвесторов.</a:t>
              </a:r>
              <a:endParaRPr b="0"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74" name="Google Shape;274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 txBox="1"/>
            <p:nvPr/>
          </p:nvSpPr>
          <p:spPr>
            <a:xfrm>
              <a:off x="381000" y="19050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5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Сравнение альтернатив выявляет оптимальный баланс вероятности успеха и затрат</a:t>
              </a:r>
              <a:endParaRPr b="1" sz="155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76" name="Google Shape;276;p20"/>
            <p:cNvGrpSpPr/>
            <p:nvPr/>
          </p:nvGrpSpPr>
          <p:grpSpPr>
            <a:xfrm>
              <a:off x="381000" y="762000"/>
              <a:ext cx="8382000" cy="19200"/>
              <a:chOff x="0" y="0"/>
              <a:chExt cx="8382000" cy="19200"/>
            </a:xfrm>
          </p:grpSpPr>
          <p:sp>
            <p:nvSpPr>
              <p:cNvPr id="277" name="Google Shape;277;p20"/>
              <p:cNvSpPr/>
              <p:nvPr/>
            </p:nvSpPr>
            <p:spPr>
              <a:xfrm>
                <a:off x="0" y="0"/>
                <a:ext cx="76200" cy="19200"/>
              </a:xfrm>
              <a:prstGeom prst="rect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0"/>
              <p:cNvSpPr/>
              <p:nvPr/>
            </p:nvSpPr>
            <p:spPr>
              <a:xfrm>
                <a:off x="76200" y="0"/>
                <a:ext cx="83058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9" name="Google Shape;279;p20"/>
          <p:cNvSpPr txBox="1"/>
          <p:nvPr/>
        </p:nvSpPr>
        <p:spPr>
          <a:xfrm>
            <a:off x="381000" y="904875"/>
            <a:ext cx="8382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1200">
                <a:solidFill>
                  <a:srgbClr val="3B5B7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Оценка решений по матрице рисков</a:t>
            </a:r>
            <a:endParaRPr b="0" sz="1200">
              <a:solidFill>
                <a:srgbClr val="3B5B7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80" name="Google Shape;280;p20"/>
          <p:cNvGrpSpPr/>
          <p:nvPr/>
        </p:nvGrpSpPr>
        <p:grpSpPr>
          <a:xfrm>
            <a:off x="381000" y="1238250"/>
            <a:ext cx="8382000" cy="342900"/>
            <a:chOff x="0" y="0"/>
            <a:chExt cx="8382000" cy="342900"/>
          </a:xfrm>
        </p:grpSpPr>
        <p:sp>
          <p:nvSpPr>
            <p:cNvPr id="281" name="Google Shape;281;p20"/>
            <p:cNvSpPr/>
            <p:nvPr/>
          </p:nvSpPr>
          <p:spPr>
            <a:xfrm>
              <a:off x="0" y="0"/>
              <a:ext cx="8382000" cy="342900"/>
            </a:xfrm>
            <a:prstGeom prst="roundRect">
              <a:avLst>
                <a:gd fmla="val 11111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 txBox="1"/>
            <p:nvPr/>
          </p:nvSpPr>
          <p:spPr>
            <a:xfrm>
              <a:off x="152400" y="0"/>
              <a:ext cx="2095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</a:t>
              </a:r>
              <a:endParaRPr b="0"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2343150" y="0"/>
              <a:ext cx="142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Вероятность успеха</a:t>
              </a:r>
              <a:endParaRPr b="0"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4" name="Google Shape;284;p20"/>
            <p:cNvSpPr txBox="1"/>
            <p:nvPr/>
          </p:nvSpPr>
          <p:spPr>
            <a:xfrm>
              <a:off x="3867150" y="0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Влияние</a:t>
              </a:r>
              <a:endParaRPr b="0"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5" name="Google Shape;285;p20"/>
            <p:cNvSpPr txBox="1"/>
            <p:nvPr/>
          </p:nvSpPr>
          <p:spPr>
            <a:xfrm>
              <a:off x="5676900" y="0"/>
              <a:ext cx="1238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Сроки</a:t>
              </a:r>
              <a:endParaRPr b="0"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6" name="Google Shape;286;p20"/>
            <p:cNvSpPr txBox="1"/>
            <p:nvPr/>
          </p:nvSpPr>
          <p:spPr>
            <a:xfrm>
              <a:off x="7010400" y="0"/>
              <a:ext cx="121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Общий риск</a:t>
              </a:r>
              <a:endParaRPr b="0"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87" name="Google Shape;287;p20"/>
          <p:cNvGrpSpPr/>
          <p:nvPr/>
        </p:nvGrpSpPr>
        <p:grpSpPr>
          <a:xfrm>
            <a:off x="381000" y="1657350"/>
            <a:ext cx="8382000" cy="571500"/>
            <a:chOff x="0" y="0"/>
            <a:chExt cx="8382000" cy="571500"/>
          </a:xfrm>
        </p:grpSpPr>
        <p:sp>
          <p:nvSpPr>
            <p:cNvPr id="288" name="Google Shape;288;p20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81B2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 txBox="1"/>
            <p:nvPr/>
          </p:nvSpPr>
          <p:spPr>
            <a:xfrm>
              <a:off x="152400" y="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 1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81B29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Медиация</a:t>
              </a:r>
              <a:endParaRPr b="0" sz="1000">
                <a:solidFill>
                  <a:srgbClr val="81B29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90" name="Google Shape;290;p20"/>
            <p:cNvSpPr txBox="1"/>
            <p:nvPr/>
          </p:nvSpPr>
          <p:spPr>
            <a:xfrm>
              <a:off x="2343150" y="95250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70%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>
              <a:off x="3867150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Положительное</a:t>
              </a:r>
              <a:endParaRPr b="0" sz="1000">
                <a:solidFill>
                  <a:srgbClr val="1A253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92" name="Google Shape;292;p20"/>
            <p:cNvSpPr txBox="1"/>
            <p:nvPr/>
          </p:nvSpPr>
          <p:spPr>
            <a:xfrm>
              <a:off x="5676900" y="0"/>
              <a:ext cx="1238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2–4 недели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93" name="Google Shape;293;p20"/>
            <p:cNvGrpSpPr/>
            <p:nvPr/>
          </p:nvGrpSpPr>
          <p:grpSpPr>
            <a:xfrm>
              <a:off x="7010400" y="152400"/>
              <a:ext cx="1219200" cy="266700"/>
              <a:chOff x="0" y="0"/>
              <a:chExt cx="1219200" cy="266700"/>
            </a:xfrm>
          </p:grpSpPr>
          <p:sp>
            <p:nvSpPr>
              <p:cNvPr id="294" name="Google Shape;294;p20"/>
              <p:cNvSpPr/>
              <p:nvPr/>
            </p:nvSpPr>
            <p:spPr>
              <a:xfrm>
                <a:off x="0" y="0"/>
                <a:ext cx="12192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E8F5E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0"/>
              <p:cNvSpPr txBox="1"/>
              <p:nvPr/>
            </p:nvSpPr>
            <p:spPr>
              <a:xfrm>
                <a:off x="0" y="0"/>
                <a:ext cx="12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2E7D3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Низкий</a:t>
                </a:r>
                <a:endParaRPr b="0" sz="900">
                  <a:solidFill>
                    <a:srgbClr val="2E7D3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96" name="Google Shape;296;p20"/>
          <p:cNvGrpSpPr/>
          <p:nvPr/>
        </p:nvGrpSpPr>
        <p:grpSpPr>
          <a:xfrm>
            <a:off x="381000" y="2286000"/>
            <a:ext cx="8382000" cy="571500"/>
            <a:chOff x="0" y="0"/>
            <a:chExt cx="8382000" cy="571500"/>
          </a:xfrm>
        </p:grpSpPr>
        <p:sp>
          <p:nvSpPr>
            <p:cNvPr id="297" name="Google Shape;297;p20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 txBox="1"/>
            <p:nvPr/>
          </p:nvSpPr>
          <p:spPr>
            <a:xfrm>
              <a:off x="152400" y="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 2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Разделение зон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9" name="Google Shape;299;p20"/>
            <p:cNvSpPr txBox="1"/>
            <p:nvPr/>
          </p:nvSpPr>
          <p:spPr>
            <a:xfrm>
              <a:off x="2343150" y="95250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50%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0" name="Google Shape;300;p20"/>
            <p:cNvSpPr txBox="1"/>
            <p:nvPr/>
          </p:nvSpPr>
          <p:spPr>
            <a:xfrm>
              <a:off x="3867150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Нейтральное / положительное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1" name="Google Shape;301;p20"/>
            <p:cNvSpPr txBox="1"/>
            <p:nvPr/>
          </p:nvSpPr>
          <p:spPr>
            <a:xfrm>
              <a:off x="5676900" y="0"/>
              <a:ext cx="1238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1–2 недели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2" name="Google Shape;302;p20"/>
            <p:cNvGrpSpPr/>
            <p:nvPr/>
          </p:nvGrpSpPr>
          <p:grpSpPr>
            <a:xfrm>
              <a:off x="7010400" y="152400"/>
              <a:ext cx="1219200" cy="266700"/>
              <a:chOff x="0" y="0"/>
              <a:chExt cx="1219200" cy="266700"/>
            </a:xfrm>
          </p:grpSpPr>
          <p:sp>
            <p:nvSpPr>
              <p:cNvPr id="303" name="Google Shape;303;p20"/>
              <p:cNvSpPr/>
              <p:nvPr/>
            </p:nvSpPr>
            <p:spPr>
              <a:xfrm>
                <a:off x="0" y="0"/>
                <a:ext cx="12192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FF8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0"/>
              <p:cNvSpPr txBox="1"/>
              <p:nvPr/>
            </p:nvSpPr>
            <p:spPr>
              <a:xfrm>
                <a:off x="0" y="0"/>
                <a:ext cx="12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57F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Средний</a:t>
                </a:r>
                <a:endParaRPr b="0" sz="900">
                  <a:solidFill>
                    <a:srgbClr val="F57F1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05" name="Google Shape;305;p20"/>
          <p:cNvGrpSpPr/>
          <p:nvPr/>
        </p:nvGrpSpPr>
        <p:grpSpPr>
          <a:xfrm>
            <a:off x="381000" y="2914650"/>
            <a:ext cx="8382000" cy="571500"/>
            <a:chOff x="0" y="0"/>
            <a:chExt cx="8382000" cy="571500"/>
          </a:xfrm>
        </p:grpSpPr>
        <p:sp>
          <p:nvSpPr>
            <p:cNvPr id="306" name="Google Shape;306;p20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 txBox="1"/>
            <p:nvPr/>
          </p:nvSpPr>
          <p:spPr>
            <a:xfrm>
              <a:off x="152400" y="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 3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Data-driven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8" name="Google Shape;308;p20"/>
            <p:cNvSpPr txBox="1"/>
            <p:nvPr/>
          </p:nvSpPr>
          <p:spPr>
            <a:xfrm>
              <a:off x="2343150" y="95250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65%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3867150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Очень положительное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5676900" y="0"/>
              <a:ext cx="1238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4–8 недель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11" name="Google Shape;311;p20"/>
            <p:cNvGrpSpPr/>
            <p:nvPr/>
          </p:nvGrpSpPr>
          <p:grpSpPr>
            <a:xfrm>
              <a:off x="7010400" y="152400"/>
              <a:ext cx="1219200" cy="266700"/>
              <a:chOff x="0" y="0"/>
              <a:chExt cx="1219200" cy="266700"/>
            </a:xfrm>
          </p:grpSpPr>
          <p:sp>
            <p:nvSpPr>
              <p:cNvPr id="312" name="Google Shape;312;p20"/>
              <p:cNvSpPr/>
              <p:nvPr/>
            </p:nvSpPr>
            <p:spPr>
              <a:xfrm>
                <a:off x="0" y="0"/>
                <a:ext cx="12192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FF8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20"/>
              <p:cNvSpPr txBox="1"/>
              <p:nvPr/>
            </p:nvSpPr>
            <p:spPr>
              <a:xfrm>
                <a:off x="0" y="0"/>
                <a:ext cx="12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57F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Средний</a:t>
                </a:r>
                <a:endParaRPr b="0" sz="900">
                  <a:solidFill>
                    <a:srgbClr val="F57F1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14" name="Google Shape;314;p20"/>
          <p:cNvGrpSpPr/>
          <p:nvPr/>
        </p:nvGrpSpPr>
        <p:grpSpPr>
          <a:xfrm>
            <a:off x="381000" y="3543300"/>
            <a:ext cx="8382000" cy="571500"/>
            <a:chOff x="0" y="0"/>
            <a:chExt cx="8382000" cy="571500"/>
          </a:xfrm>
        </p:grpSpPr>
        <p:sp>
          <p:nvSpPr>
            <p:cNvPr id="315" name="Google Shape;315;p20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152400" y="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 4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Советник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7" name="Google Shape;317;p20"/>
            <p:cNvSpPr txBox="1"/>
            <p:nvPr/>
          </p:nvSpPr>
          <p:spPr>
            <a:xfrm>
              <a:off x="2343150" y="95250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55%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18" name="Google Shape;318;p20"/>
            <p:cNvSpPr txBox="1"/>
            <p:nvPr/>
          </p:nvSpPr>
          <p:spPr>
            <a:xfrm>
              <a:off x="3867150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Положительное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9" name="Google Shape;319;p20"/>
            <p:cNvSpPr txBox="1"/>
            <p:nvPr/>
          </p:nvSpPr>
          <p:spPr>
            <a:xfrm>
              <a:off x="5676900" y="0"/>
              <a:ext cx="1238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1 неделя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20" name="Google Shape;320;p20"/>
            <p:cNvGrpSpPr/>
            <p:nvPr/>
          </p:nvGrpSpPr>
          <p:grpSpPr>
            <a:xfrm>
              <a:off x="7010400" y="152400"/>
              <a:ext cx="1219200" cy="266700"/>
              <a:chOff x="0" y="0"/>
              <a:chExt cx="1219200" cy="266700"/>
            </a:xfrm>
          </p:grpSpPr>
          <p:sp>
            <p:nvSpPr>
              <p:cNvPr id="321" name="Google Shape;321;p20"/>
              <p:cNvSpPr/>
              <p:nvPr/>
            </p:nvSpPr>
            <p:spPr>
              <a:xfrm>
                <a:off x="0" y="0"/>
                <a:ext cx="12192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FF8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0"/>
              <p:cNvSpPr txBox="1"/>
              <p:nvPr/>
            </p:nvSpPr>
            <p:spPr>
              <a:xfrm>
                <a:off x="0" y="0"/>
                <a:ext cx="12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57F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Средний</a:t>
                </a:r>
                <a:endParaRPr b="0" sz="900">
                  <a:solidFill>
                    <a:srgbClr val="F57F1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23" name="Google Shape;323;p20"/>
          <p:cNvGrpSpPr/>
          <p:nvPr/>
        </p:nvGrpSpPr>
        <p:grpSpPr>
          <a:xfrm>
            <a:off x="381000" y="4171950"/>
            <a:ext cx="8382000" cy="571500"/>
            <a:chOff x="0" y="0"/>
            <a:chExt cx="8382000" cy="571500"/>
          </a:xfrm>
        </p:grpSpPr>
        <p:sp>
          <p:nvSpPr>
            <p:cNvPr id="324" name="Google Shape;324;p20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0"/>
            <p:cNvSpPr txBox="1"/>
            <p:nvPr/>
          </p:nvSpPr>
          <p:spPr>
            <a:xfrm>
              <a:off x="152400" y="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Решение 5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Реструктуризация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6" name="Google Shape;326;p20"/>
            <p:cNvSpPr txBox="1"/>
            <p:nvPr/>
          </p:nvSpPr>
          <p:spPr>
            <a:xfrm>
              <a:off x="2343150" y="95250"/>
              <a:ext cx="142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30%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27" name="Google Shape;327;p20"/>
            <p:cNvSpPr txBox="1"/>
            <p:nvPr/>
          </p:nvSpPr>
          <p:spPr>
            <a:xfrm>
              <a:off x="3867150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07A5F"/>
                  </a:solidFill>
                  <a:latin typeface="Inter"/>
                  <a:ea typeface="Inter"/>
                  <a:cs typeface="Inter"/>
                  <a:sym typeface="Inter"/>
                </a:rPr>
                <a:t>Отрицательное</a:t>
              </a:r>
              <a:endParaRPr b="0" sz="1000">
                <a:solidFill>
                  <a:srgbClr val="E07A5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8" name="Google Shape;328;p20"/>
            <p:cNvSpPr txBox="1"/>
            <p:nvPr/>
          </p:nvSpPr>
          <p:spPr>
            <a:xfrm>
              <a:off x="5676900" y="0"/>
              <a:ext cx="1238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2–3 месяца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29" name="Google Shape;329;p20"/>
            <p:cNvGrpSpPr/>
            <p:nvPr/>
          </p:nvGrpSpPr>
          <p:grpSpPr>
            <a:xfrm>
              <a:off x="7010400" y="152400"/>
              <a:ext cx="1219200" cy="266700"/>
              <a:chOff x="0" y="0"/>
              <a:chExt cx="1219200" cy="266700"/>
            </a:xfrm>
          </p:grpSpPr>
          <p:sp>
            <p:nvSpPr>
              <p:cNvPr id="330" name="Google Shape;330;p20"/>
              <p:cNvSpPr/>
              <p:nvPr/>
            </p:nvSpPr>
            <p:spPr>
              <a:xfrm>
                <a:off x="0" y="0"/>
                <a:ext cx="12192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FBE9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0"/>
              <p:cNvSpPr txBox="1"/>
              <p:nvPr/>
            </p:nvSpPr>
            <p:spPr>
              <a:xfrm>
                <a:off x="0" y="0"/>
                <a:ext cx="12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D8431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Очень высокий</a:t>
                </a:r>
                <a:endParaRPr b="0" sz="900">
                  <a:solidFill>
                    <a:srgbClr val="D8431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7" name="Google Shape;337;p21"/>
          <p:cNvGrpSpPr/>
          <p:nvPr/>
        </p:nvGrpSpPr>
        <p:grpSpPr>
          <a:xfrm>
            <a:off x="7429500" y="285750"/>
            <a:ext cx="1333500" cy="228600"/>
            <a:chOff x="0" y="0"/>
            <a:chExt cx="1333500" cy="228600"/>
          </a:xfrm>
        </p:grpSpPr>
        <p:sp>
          <p:nvSpPr>
            <p:cNvPr id="338" name="Google Shape;338;p21"/>
            <p:cNvSpPr/>
            <p:nvPr/>
          </p:nvSpPr>
          <p:spPr>
            <a:xfrm>
              <a:off x="0" y="0"/>
              <a:ext cx="1333500" cy="228600"/>
            </a:xfrm>
            <a:prstGeom prst="roundRect">
              <a:avLst>
                <a:gd fmla="val 16666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1"/>
            <p:cNvSpPr txBox="1"/>
            <p:nvPr/>
          </p:nvSpPr>
          <p:spPr>
            <a:xfrm>
              <a:off x="95250" y="1905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STARTUP LAB</a:t>
              </a:r>
              <a:endParaRPr b="0" sz="8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40" name="Google Shape;340;p21"/>
          <p:cNvGrpSpPr/>
          <p:nvPr/>
        </p:nvGrpSpPr>
        <p:grpSpPr>
          <a:xfrm>
            <a:off x="381000" y="952500"/>
            <a:ext cx="8382000" cy="19200"/>
            <a:chOff x="0" y="0"/>
            <a:chExt cx="8382000" cy="19200"/>
          </a:xfrm>
        </p:grpSpPr>
        <p:sp>
          <p:nvSpPr>
            <p:cNvPr id="341" name="Google Shape;341;p21"/>
            <p:cNvSpPr/>
            <p:nvPr/>
          </p:nvSpPr>
          <p:spPr>
            <a:xfrm>
              <a:off x="0" y="0"/>
              <a:ext cx="76200" cy="192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76200" y="0"/>
              <a:ext cx="83058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21"/>
          <p:cNvSpPr txBox="1"/>
          <p:nvPr/>
        </p:nvSpPr>
        <p:spPr>
          <a:xfrm>
            <a:off x="381000" y="238125"/>
            <a:ext cx="6858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rPr>
              <a:t>Проактивная митигация минимизирует негативные последствия выбранных решений</a:t>
            </a:r>
            <a:endParaRPr b="1" sz="2000">
              <a:solidFill>
                <a:srgbClr val="1A253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44" name="Google Shape;344;p21"/>
          <p:cNvGrpSpPr/>
          <p:nvPr/>
        </p:nvGrpSpPr>
        <p:grpSpPr>
          <a:xfrm>
            <a:off x="381000" y="1143000"/>
            <a:ext cx="4076700" cy="1095300"/>
            <a:chOff x="0" y="0"/>
            <a:chExt cx="4076700" cy="1095300"/>
          </a:xfrm>
        </p:grpSpPr>
        <p:sp>
          <p:nvSpPr>
            <p:cNvPr id="345" name="Google Shape;345;p21"/>
            <p:cNvSpPr/>
            <p:nvPr/>
          </p:nvSpPr>
          <p:spPr>
            <a:xfrm>
              <a:off x="0" y="0"/>
              <a:ext cx="40767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1"/>
            <p:cNvSpPr txBox="1"/>
            <p:nvPr/>
          </p:nvSpPr>
          <p:spPr>
            <a:xfrm>
              <a:off x="190500" y="114300"/>
              <a:ext cx="3695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" sz="11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Медиация</a:t>
              </a:r>
              <a:endParaRPr b="1" sz="11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48" name="Google Shape;348;p21"/>
            <p:cNvGrpSpPr/>
            <p:nvPr/>
          </p:nvGrpSpPr>
          <p:grpSpPr>
            <a:xfrm>
              <a:off x="209550" y="400050"/>
              <a:ext cx="152400" cy="152400"/>
              <a:chOff x="19050" y="19050"/>
              <a:chExt cx="152400" cy="152400"/>
            </a:xfrm>
          </p:grpSpPr>
          <p:sp>
            <p:nvSpPr>
              <p:cNvPr id="349" name="Google Shape;349;p21"/>
              <p:cNvSpPr/>
              <p:nvPr/>
            </p:nvSpPr>
            <p:spPr>
              <a:xfrm>
                <a:off x="19050" y="19050"/>
                <a:ext cx="152400" cy="152400"/>
              </a:xfrm>
              <a:prstGeom prst="ellipse">
                <a:avLst/>
              </a:prstGeom>
              <a:solidFill>
                <a:srgbClr val="E07A5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1"/>
              <p:cNvSpPr/>
              <p:nvPr/>
            </p:nvSpPr>
            <p:spPr>
              <a:xfrm>
                <a:off x="95250" y="57150"/>
                <a:ext cx="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5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1" name="Google Shape;351;p21"/>
            <p:cNvSpPr txBox="1"/>
            <p:nvPr/>
          </p:nvSpPr>
          <p:spPr>
            <a:xfrm>
              <a:off x="419100" y="361950"/>
              <a:ext cx="3467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Риск</a:t>
              </a:r>
              <a:endParaRPr b="0" sz="833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Непонимание контекста</a:t>
              </a:r>
              <a:endParaRPr b="0" sz="9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2" name="Google Shape;352;p21"/>
            <p:cNvGrpSpPr/>
            <p:nvPr/>
          </p:nvGrpSpPr>
          <p:grpSpPr>
            <a:xfrm>
              <a:off x="209550" y="723900"/>
              <a:ext cx="152400" cy="152400"/>
              <a:chOff x="19050" y="19050"/>
              <a:chExt cx="152400" cy="152400"/>
            </a:xfrm>
          </p:grpSpPr>
          <p:sp>
            <p:nvSpPr>
              <p:cNvPr id="353" name="Google Shape;353;p21"/>
              <p:cNvSpPr/>
              <p:nvPr/>
            </p:nvSpPr>
            <p:spPr>
              <a:xfrm>
                <a:off x="19050" y="19050"/>
                <a:ext cx="152400" cy="152400"/>
              </a:xfrm>
              <a:prstGeom prst="ellipse">
                <a:avLst/>
              </a:prstGeom>
              <a:solidFill>
                <a:srgbClr val="81B29A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1"/>
              <p:cNvSpPr/>
              <p:nvPr/>
            </p:nvSpPr>
            <p:spPr>
              <a:xfrm>
                <a:off x="57150" y="66675"/>
                <a:ext cx="76200" cy="52500"/>
              </a:xfrm>
              <a:custGeom>
                <a:rect b="b" l="l" r="r" t="t"/>
                <a:pathLst>
                  <a:path extrusionOk="0" h="120000" w="120000">
                    <a:moveTo>
                      <a:pt x="0" y="65455"/>
                    </a:moveTo>
                    <a:lnTo>
                      <a:pt x="375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81B2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5" name="Google Shape;355;p21"/>
            <p:cNvSpPr txBox="1"/>
            <p:nvPr/>
          </p:nvSpPr>
          <p:spPr>
            <a:xfrm>
              <a:off x="419100" y="685800"/>
              <a:ext cx="3467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81B29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Митигация</a:t>
              </a:r>
              <a:endParaRPr b="0" sz="833">
                <a:solidFill>
                  <a:srgbClr val="81B29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Выбор медиатора с опытом в стартапах</a:t>
              </a:r>
              <a:endParaRPr b="0" sz="9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6" name="Google Shape;356;p21"/>
          <p:cNvGrpSpPr/>
          <p:nvPr/>
        </p:nvGrpSpPr>
        <p:grpSpPr>
          <a:xfrm>
            <a:off x="4686300" y="1143000"/>
            <a:ext cx="4076700" cy="1095300"/>
            <a:chOff x="0" y="0"/>
            <a:chExt cx="4076700" cy="1095300"/>
          </a:xfrm>
        </p:grpSpPr>
        <p:sp>
          <p:nvSpPr>
            <p:cNvPr id="357" name="Google Shape;357;p21"/>
            <p:cNvSpPr/>
            <p:nvPr/>
          </p:nvSpPr>
          <p:spPr>
            <a:xfrm>
              <a:off x="0" y="0"/>
              <a:ext cx="40767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1"/>
            <p:cNvSpPr txBox="1"/>
            <p:nvPr/>
          </p:nvSpPr>
          <p:spPr>
            <a:xfrm>
              <a:off x="190500" y="114300"/>
              <a:ext cx="3695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" sz="11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Разделение зон</a:t>
              </a:r>
              <a:endParaRPr b="1" sz="11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60" name="Google Shape;360;p21"/>
            <p:cNvGrpSpPr/>
            <p:nvPr/>
          </p:nvGrpSpPr>
          <p:grpSpPr>
            <a:xfrm>
              <a:off x="209550" y="400050"/>
              <a:ext cx="152400" cy="152400"/>
              <a:chOff x="19050" y="19050"/>
              <a:chExt cx="152400" cy="152400"/>
            </a:xfrm>
          </p:grpSpPr>
          <p:sp>
            <p:nvSpPr>
              <p:cNvPr id="361" name="Google Shape;361;p21"/>
              <p:cNvSpPr/>
              <p:nvPr/>
            </p:nvSpPr>
            <p:spPr>
              <a:xfrm>
                <a:off x="19050" y="19050"/>
                <a:ext cx="152400" cy="152400"/>
              </a:xfrm>
              <a:prstGeom prst="ellipse">
                <a:avLst/>
              </a:prstGeom>
              <a:solidFill>
                <a:srgbClr val="E07A5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1"/>
              <p:cNvSpPr/>
              <p:nvPr/>
            </p:nvSpPr>
            <p:spPr>
              <a:xfrm>
                <a:off x="95250" y="57150"/>
                <a:ext cx="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5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3" name="Google Shape;363;p21"/>
            <p:cNvSpPr txBox="1"/>
            <p:nvPr/>
          </p:nvSpPr>
          <p:spPr>
            <a:xfrm>
              <a:off x="419100" y="361950"/>
              <a:ext cx="3467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Риск</a:t>
              </a:r>
              <a:endParaRPr b="0" sz="833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Фрагментация процессов</a:t>
              </a:r>
              <a:endParaRPr b="0" sz="9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64" name="Google Shape;364;p21"/>
            <p:cNvGrpSpPr/>
            <p:nvPr/>
          </p:nvGrpSpPr>
          <p:grpSpPr>
            <a:xfrm>
              <a:off x="209550" y="723900"/>
              <a:ext cx="152400" cy="152400"/>
              <a:chOff x="19050" y="19050"/>
              <a:chExt cx="152400" cy="152400"/>
            </a:xfrm>
          </p:grpSpPr>
          <p:sp>
            <p:nvSpPr>
              <p:cNvPr id="365" name="Google Shape;365;p21"/>
              <p:cNvSpPr/>
              <p:nvPr/>
            </p:nvSpPr>
            <p:spPr>
              <a:xfrm>
                <a:off x="19050" y="19050"/>
                <a:ext cx="152400" cy="152400"/>
              </a:xfrm>
              <a:prstGeom prst="ellipse">
                <a:avLst/>
              </a:prstGeom>
              <a:solidFill>
                <a:srgbClr val="81B29A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1"/>
              <p:cNvSpPr/>
              <p:nvPr/>
            </p:nvSpPr>
            <p:spPr>
              <a:xfrm>
                <a:off x="57150" y="66675"/>
                <a:ext cx="76200" cy="52500"/>
              </a:xfrm>
              <a:custGeom>
                <a:rect b="b" l="l" r="r" t="t"/>
                <a:pathLst>
                  <a:path extrusionOk="0" h="120000" w="120000">
                    <a:moveTo>
                      <a:pt x="0" y="65455"/>
                    </a:moveTo>
                    <a:lnTo>
                      <a:pt x="375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81B2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7" name="Google Shape;367;p21"/>
            <p:cNvSpPr txBox="1"/>
            <p:nvPr/>
          </p:nvSpPr>
          <p:spPr>
            <a:xfrm>
              <a:off x="419100" y="685800"/>
              <a:ext cx="3467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81B29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Митигация</a:t>
              </a:r>
              <a:endParaRPr b="0" sz="833">
                <a:solidFill>
                  <a:srgbClr val="81B29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Жесткое документирование и назначение координатора</a:t>
              </a:r>
              <a:endParaRPr b="0" sz="9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8" name="Google Shape;368;p21"/>
          <p:cNvGrpSpPr/>
          <p:nvPr/>
        </p:nvGrpSpPr>
        <p:grpSpPr>
          <a:xfrm>
            <a:off x="381000" y="2381250"/>
            <a:ext cx="4076700" cy="1095300"/>
            <a:chOff x="0" y="0"/>
            <a:chExt cx="4076700" cy="1095300"/>
          </a:xfrm>
        </p:grpSpPr>
        <p:sp>
          <p:nvSpPr>
            <p:cNvPr id="369" name="Google Shape;369;p21"/>
            <p:cNvSpPr/>
            <p:nvPr/>
          </p:nvSpPr>
          <p:spPr>
            <a:xfrm>
              <a:off x="0" y="0"/>
              <a:ext cx="40767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1"/>
            <p:cNvSpPr txBox="1"/>
            <p:nvPr/>
          </p:nvSpPr>
          <p:spPr>
            <a:xfrm>
              <a:off x="190500" y="114300"/>
              <a:ext cx="3695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" sz="11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Data-driven</a:t>
              </a:r>
              <a:endParaRPr b="1" sz="11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2" name="Google Shape;372;p21"/>
            <p:cNvGrpSpPr/>
            <p:nvPr/>
          </p:nvGrpSpPr>
          <p:grpSpPr>
            <a:xfrm>
              <a:off x="209550" y="400050"/>
              <a:ext cx="152400" cy="152400"/>
              <a:chOff x="19050" y="19050"/>
              <a:chExt cx="152400" cy="152400"/>
            </a:xfrm>
          </p:grpSpPr>
          <p:sp>
            <p:nvSpPr>
              <p:cNvPr id="373" name="Google Shape;373;p21"/>
              <p:cNvSpPr/>
              <p:nvPr/>
            </p:nvSpPr>
            <p:spPr>
              <a:xfrm>
                <a:off x="19050" y="19050"/>
                <a:ext cx="152400" cy="152400"/>
              </a:xfrm>
              <a:prstGeom prst="ellipse">
                <a:avLst/>
              </a:prstGeom>
              <a:solidFill>
                <a:srgbClr val="E07A5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>
                <a:off x="95250" y="57150"/>
                <a:ext cx="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5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5" name="Google Shape;375;p21"/>
            <p:cNvSpPr txBox="1"/>
            <p:nvPr/>
          </p:nvSpPr>
          <p:spPr>
            <a:xfrm>
              <a:off x="419100" y="361950"/>
              <a:ext cx="3467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Риск</a:t>
              </a:r>
              <a:endParaRPr b="0" sz="833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Нехватка ресурсов</a:t>
              </a:r>
              <a:endParaRPr b="0" sz="9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6" name="Google Shape;376;p21"/>
            <p:cNvGrpSpPr/>
            <p:nvPr/>
          </p:nvGrpSpPr>
          <p:grpSpPr>
            <a:xfrm>
              <a:off x="209550" y="723900"/>
              <a:ext cx="152400" cy="152400"/>
              <a:chOff x="19050" y="19050"/>
              <a:chExt cx="152400" cy="152400"/>
            </a:xfrm>
          </p:grpSpPr>
          <p:sp>
            <p:nvSpPr>
              <p:cNvPr id="377" name="Google Shape;377;p21"/>
              <p:cNvSpPr/>
              <p:nvPr/>
            </p:nvSpPr>
            <p:spPr>
              <a:xfrm>
                <a:off x="19050" y="19050"/>
                <a:ext cx="152400" cy="152400"/>
              </a:xfrm>
              <a:prstGeom prst="ellipse">
                <a:avLst/>
              </a:prstGeom>
              <a:solidFill>
                <a:srgbClr val="81B29A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57150" y="66675"/>
                <a:ext cx="76200" cy="52500"/>
              </a:xfrm>
              <a:custGeom>
                <a:rect b="b" l="l" r="r" t="t"/>
                <a:pathLst>
                  <a:path extrusionOk="0" h="120000" w="120000">
                    <a:moveTo>
                      <a:pt x="0" y="65455"/>
                    </a:moveTo>
                    <a:lnTo>
                      <a:pt x="375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81B2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9" name="Google Shape;379;p21"/>
            <p:cNvSpPr txBox="1"/>
            <p:nvPr/>
          </p:nvSpPr>
          <p:spPr>
            <a:xfrm>
              <a:off x="419100" y="685800"/>
              <a:ext cx="3467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81B29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Митигация</a:t>
              </a:r>
              <a:endParaRPr b="0" sz="833">
                <a:solidFill>
                  <a:srgbClr val="81B29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Запуск малых тестов и привлечение аналитика</a:t>
              </a:r>
              <a:endParaRPr b="0" sz="9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0" name="Google Shape;380;p21"/>
          <p:cNvGrpSpPr/>
          <p:nvPr/>
        </p:nvGrpSpPr>
        <p:grpSpPr>
          <a:xfrm>
            <a:off x="4686300" y="2381250"/>
            <a:ext cx="4076700" cy="1095300"/>
            <a:chOff x="0" y="0"/>
            <a:chExt cx="4076700" cy="1095300"/>
          </a:xfrm>
        </p:grpSpPr>
        <p:sp>
          <p:nvSpPr>
            <p:cNvPr id="381" name="Google Shape;381;p21"/>
            <p:cNvSpPr/>
            <p:nvPr/>
          </p:nvSpPr>
          <p:spPr>
            <a:xfrm>
              <a:off x="0" y="0"/>
              <a:ext cx="40767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1"/>
            <p:cNvSpPr txBox="1"/>
            <p:nvPr/>
          </p:nvSpPr>
          <p:spPr>
            <a:xfrm>
              <a:off x="190500" y="114300"/>
              <a:ext cx="3695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" sz="11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Советник</a:t>
              </a:r>
              <a:endParaRPr b="1" sz="11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84" name="Google Shape;384;p21"/>
            <p:cNvGrpSpPr/>
            <p:nvPr/>
          </p:nvGrpSpPr>
          <p:grpSpPr>
            <a:xfrm>
              <a:off x="209550" y="400050"/>
              <a:ext cx="152400" cy="152400"/>
              <a:chOff x="19050" y="19050"/>
              <a:chExt cx="152400" cy="152400"/>
            </a:xfrm>
          </p:grpSpPr>
          <p:sp>
            <p:nvSpPr>
              <p:cNvPr id="385" name="Google Shape;385;p21"/>
              <p:cNvSpPr/>
              <p:nvPr/>
            </p:nvSpPr>
            <p:spPr>
              <a:xfrm>
                <a:off x="19050" y="19050"/>
                <a:ext cx="152400" cy="152400"/>
              </a:xfrm>
              <a:prstGeom prst="ellipse">
                <a:avLst/>
              </a:prstGeom>
              <a:solidFill>
                <a:srgbClr val="E07A5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1"/>
              <p:cNvSpPr/>
              <p:nvPr/>
            </p:nvSpPr>
            <p:spPr>
              <a:xfrm>
                <a:off x="95250" y="57150"/>
                <a:ext cx="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5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7" name="Google Shape;387;p21"/>
            <p:cNvSpPr txBox="1"/>
            <p:nvPr/>
          </p:nvSpPr>
          <p:spPr>
            <a:xfrm>
              <a:off x="419100" y="361950"/>
              <a:ext cx="3467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Риск</a:t>
              </a:r>
              <a:endParaRPr b="0" sz="833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Зависимость от одного лица</a:t>
              </a:r>
              <a:endParaRPr b="0" sz="9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88" name="Google Shape;388;p21"/>
            <p:cNvGrpSpPr/>
            <p:nvPr/>
          </p:nvGrpSpPr>
          <p:grpSpPr>
            <a:xfrm>
              <a:off x="209550" y="723900"/>
              <a:ext cx="152400" cy="152400"/>
              <a:chOff x="19050" y="19050"/>
              <a:chExt cx="152400" cy="152400"/>
            </a:xfrm>
          </p:grpSpPr>
          <p:sp>
            <p:nvSpPr>
              <p:cNvPr id="389" name="Google Shape;389;p21"/>
              <p:cNvSpPr/>
              <p:nvPr/>
            </p:nvSpPr>
            <p:spPr>
              <a:xfrm>
                <a:off x="19050" y="19050"/>
                <a:ext cx="152400" cy="152400"/>
              </a:xfrm>
              <a:prstGeom prst="ellipse">
                <a:avLst/>
              </a:prstGeom>
              <a:solidFill>
                <a:srgbClr val="81B29A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>
                <a:off x="57150" y="66675"/>
                <a:ext cx="76200" cy="52500"/>
              </a:xfrm>
              <a:custGeom>
                <a:rect b="b" l="l" r="r" t="t"/>
                <a:pathLst>
                  <a:path extrusionOk="0" h="120000" w="120000">
                    <a:moveTo>
                      <a:pt x="0" y="65455"/>
                    </a:moveTo>
                    <a:lnTo>
                      <a:pt x="375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81B2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1" name="Google Shape;391;p21"/>
            <p:cNvSpPr txBox="1"/>
            <p:nvPr/>
          </p:nvSpPr>
          <p:spPr>
            <a:xfrm>
              <a:off x="419100" y="685800"/>
              <a:ext cx="3467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81B29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Митигация</a:t>
              </a:r>
              <a:endParaRPr b="0" sz="833">
                <a:solidFill>
                  <a:srgbClr val="81B29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Использование только в качестве последнего аргумента</a:t>
              </a:r>
              <a:endParaRPr b="0" sz="9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2" name="Google Shape;392;p21"/>
          <p:cNvGrpSpPr/>
          <p:nvPr/>
        </p:nvGrpSpPr>
        <p:grpSpPr>
          <a:xfrm>
            <a:off x="381000" y="3619500"/>
            <a:ext cx="8382000" cy="1095300"/>
            <a:chOff x="0" y="0"/>
            <a:chExt cx="8382000" cy="1095300"/>
          </a:xfrm>
        </p:grpSpPr>
        <p:sp>
          <p:nvSpPr>
            <p:cNvPr id="393" name="Google Shape;393;p21"/>
            <p:cNvSpPr/>
            <p:nvPr/>
          </p:nvSpPr>
          <p:spPr>
            <a:xfrm>
              <a:off x="0" y="0"/>
              <a:ext cx="83820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0" y="0"/>
              <a:ext cx="38100" cy="1095300"/>
            </a:xfrm>
            <a:prstGeom prst="roundRect">
              <a:avLst>
                <a:gd fmla="val 50000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1"/>
            <p:cNvSpPr txBox="1"/>
            <p:nvPr/>
          </p:nvSpPr>
          <p:spPr>
            <a:xfrm>
              <a:off x="190500" y="11430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" sz="11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Реструктуризация</a:t>
              </a:r>
              <a:endParaRPr b="1" sz="11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96" name="Google Shape;396;p21"/>
            <p:cNvGrpSpPr/>
            <p:nvPr/>
          </p:nvGrpSpPr>
          <p:grpSpPr>
            <a:xfrm>
              <a:off x="209550" y="514350"/>
              <a:ext cx="152400" cy="152400"/>
              <a:chOff x="19050" y="19050"/>
              <a:chExt cx="152400" cy="152400"/>
            </a:xfrm>
          </p:grpSpPr>
          <p:sp>
            <p:nvSpPr>
              <p:cNvPr id="397" name="Google Shape;397;p21"/>
              <p:cNvSpPr/>
              <p:nvPr/>
            </p:nvSpPr>
            <p:spPr>
              <a:xfrm>
                <a:off x="19050" y="19050"/>
                <a:ext cx="152400" cy="152400"/>
              </a:xfrm>
              <a:prstGeom prst="ellipse">
                <a:avLst/>
              </a:prstGeom>
              <a:solidFill>
                <a:srgbClr val="E07A5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1"/>
              <p:cNvSpPr/>
              <p:nvPr/>
            </p:nvSpPr>
            <p:spPr>
              <a:xfrm>
                <a:off x="95250" y="57150"/>
                <a:ext cx="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5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E07A5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9" name="Google Shape;399;p21"/>
            <p:cNvSpPr txBox="1"/>
            <p:nvPr/>
          </p:nvSpPr>
          <p:spPr>
            <a:xfrm>
              <a:off x="419100" y="400050"/>
              <a:ext cx="36957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E07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Риск</a:t>
              </a:r>
              <a:endParaRPr b="0" sz="900">
                <a:solidFill>
                  <a:srgbClr val="E07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Высокий уровень неопределенности и сопротивление изменений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00" name="Google Shape;400;p21"/>
            <p:cNvCxnSpPr/>
            <p:nvPr/>
          </p:nvCxnSpPr>
          <p:spPr>
            <a:xfrm>
              <a:off x="4286250" y="400050"/>
              <a:ext cx="0" cy="5526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01" name="Google Shape;401;p21"/>
            <p:cNvGrpSpPr/>
            <p:nvPr/>
          </p:nvGrpSpPr>
          <p:grpSpPr>
            <a:xfrm>
              <a:off x="4514850" y="514350"/>
              <a:ext cx="152400" cy="152400"/>
              <a:chOff x="19050" y="19050"/>
              <a:chExt cx="152400" cy="152400"/>
            </a:xfrm>
          </p:grpSpPr>
          <p:sp>
            <p:nvSpPr>
              <p:cNvPr id="402" name="Google Shape;402;p21"/>
              <p:cNvSpPr/>
              <p:nvPr/>
            </p:nvSpPr>
            <p:spPr>
              <a:xfrm>
                <a:off x="19050" y="19050"/>
                <a:ext cx="152400" cy="152400"/>
              </a:xfrm>
              <a:prstGeom prst="ellipse">
                <a:avLst/>
              </a:prstGeom>
              <a:solidFill>
                <a:srgbClr val="81B29A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1"/>
              <p:cNvSpPr/>
              <p:nvPr/>
            </p:nvSpPr>
            <p:spPr>
              <a:xfrm>
                <a:off x="57150" y="66675"/>
                <a:ext cx="76200" cy="52500"/>
              </a:xfrm>
              <a:custGeom>
                <a:rect b="b" l="l" r="r" t="t"/>
                <a:pathLst>
                  <a:path extrusionOk="0" h="120000" w="120000">
                    <a:moveTo>
                      <a:pt x="0" y="65455"/>
                    </a:moveTo>
                    <a:lnTo>
                      <a:pt x="375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4300">
                <a:solidFill>
                  <a:srgbClr val="81B2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4" name="Google Shape;404;p21"/>
            <p:cNvSpPr txBox="1"/>
            <p:nvPr/>
          </p:nvSpPr>
          <p:spPr>
            <a:xfrm>
              <a:off x="4724400" y="400050"/>
              <a:ext cx="34671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1B29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Митигация</a:t>
              </a:r>
              <a:endParaRPr b="0" sz="900">
                <a:solidFill>
                  <a:srgbClr val="81B29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Разработка детального плана B и грамотная коммуникационная стратегия для инвесторов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10" name="Google Shape;410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0" y="0"/>
              <a:ext cx="3048000" cy="5143500"/>
            </a:xfrm>
            <a:prstGeom prst="rect">
              <a:avLst/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0" y="0"/>
              <a:ext cx="3048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2"/>
            <p:cNvSpPr txBox="1"/>
            <p:nvPr/>
          </p:nvSpPr>
          <p:spPr>
            <a:xfrm>
              <a:off x="333375" y="571500"/>
              <a:ext cx="2381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Комбинация медиации и Data-driven подхода обеспечивает устойчивый результат</a:t>
              </a:r>
              <a:endParaRPr b="1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600"/>
                </a:spcAft>
                <a:buNone/>
              </a:pPr>
              <a:r>
                <a:rPr b="0" lang="en" sz="1000">
                  <a:solidFill>
                    <a:srgbClr val="F8F9FA"/>
                  </a:solidFill>
                  <a:latin typeface="Inter"/>
                  <a:ea typeface="Inter"/>
                  <a:cs typeface="Inter"/>
                  <a:sym typeface="Inter"/>
                </a:rPr>
                <a:t>Рекомендуемое решение — комбинация Решения 1 (Медиация) и Решения 3 (Data-driven).</a:t>
              </a:r>
              <a:endParaRPr b="0" sz="1000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14" name="Google Shape;414;p22"/>
            <p:cNvGrpSpPr/>
            <p:nvPr/>
          </p:nvGrpSpPr>
          <p:grpSpPr>
            <a:xfrm>
              <a:off x="7429500" y="381000"/>
              <a:ext cx="1333500" cy="228600"/>
              <a:chOff x="0" y="0"/>
              <a:chExt cx="1333500" cy="228600"/>
            </a:xfrm>
          </p:grpSpPr>
          <p:sp>
            <p:nvSpPr>
              <p:cNvPr id="415" name="Google Shape;415;p22"/>
              <p:cNvSpPr/>
              <p:nvPr/>
            </p:nvSpPr>
            <p:spPr>
              <a:xfrm>
                <a:off x="0" y="0"/>
                <a:ext cx="1333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2"/>
              <p:cNvSpPr txBox="1"/>
              <p:nvPr/>
            </p:nvSpPr>
            <p:spPr>
              <a:xfrm>
                <a:off x="95250" y="190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IT STARTUP LAB</a:t>
                </a:r>
                <a:endParaRPr b="0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417" name="Google Shape;417;p22"/>
          <p:cNvGrpSpPr/>
          <p:nvPr/>
        </p:nvGrpSpPr>
        <p:grpSpPr>
          <a:xfrm>
            <a:off x="3429000" y="381000"/>
            <a:ext cx="5334000" cy="4191000"/>
            <a:chOff x="3429000" y="381000"/>
            <a:chExt cx="5334000" cy="4191000"/>
          </a:xfrm>
        </p:grpSpPr>
        <p:grpSp>
          <p:nvGrpSpPr>
            <p:cNvPr id="418" name="Google Shape;418;p22"/>
            <p:cNvGrpSpPr/>
            <p:nvPr/>
          </p:nvGrpSpPr>
          <p:grpSpPr>
            <a:xfrm>
              <a:off x="3429000" y="381000"/>
              <a:ext cx="5334000" cy="1333500"/>
              <a:chOff x="0" y="0"/>
              <a:chExt cx="5334000" cy="1333500"/>
            </a:xfrm>
          </p:grpSpPr>
          <p:grpSp>
            <p:nvGrpSpPr>
              <p:cNvPr id="419" name="Google Shape;419;p22"/>
              <p:cNvGrpSpPr/>
              <p:nvPr/>
            </p:nvGrpSpPr>
            <p:grpSpPr>
              <a:xfrm>
                <a:off x="0" y="0"/>
                <a:ext cx="5334000" cy="609600"/>
                <a:chOff x="0" y="0"/>
                <a:chExt cx="5334000" cy="609600"/>
              </a:xfrm>
            </p:grpSpPr>
            <p:sp>
              <p:nvSpPr>
                <p:cNvPr id="420" name="Google Shape;420;p22"/>
                <p:cNvSpPr/>
                <p:nvPr/>
              </p:nvSpPr>
              <p:spPr>
                <a:xfrm>
                  <a:off x="0" y="0"/>
                  <a:ext cx="5334000" cy="609600"/>
                </a:xfrm>
                <a:prstGeom prst="roundRect">
                  <a:avLst>
                    <a:gd fmla="val 9375" name="adj"/>
                  </a:avLst>
                </a:prstGeom>
                <a:solidFill>
                  <a:srgbClr val="F8F9FA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" name="Google Shape;421;p22"/>
                <p:cNvSpPr/>
                <p:nvPr/>
              </p:nvSpPr>
              <p:spPr>
                <a:xfrm>
                  <a:off x="0" y="0"/>
                  <a:ext cx="57300" cy="609600"/>
                </a:xfrm>
                <a:prstGeom prst="roundRect">
                  <a:avLst>
                    <a:gd fmla="val 33333" name="adj"/>
                  </a:avLst>
                </a:prstGeom>
                <a:solidFill>
                  <a:srgbClr val="81B29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" name="Google Shape;422;p22"/>
                <p:cNvSpPr/>
                <p:nvPr/>
              </p:nvSpPr>
              <p:spPr>
                <a:xfrm>
                  <a:off x="171450" y="171450"/>
                  <a:ext cx="266700" cy="266700"/>
                </a:xfrm>
                <a:prstGeom prst="ellipse">
                  <a:avLst/>
                </a:prstGeom>
                <a:solidFill>
                  <a:srgbClr val="3B5B7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" name="Google Shape;423;p22"/>
                <p:cNvSpPr txBox="1"/>
                <p:nvPr/>
              </p:nvSpPr>
              <p:spPr>
                <a:xfrm>
                  <a:off x="209550" y="209550"/>
                  <a:ext cx="190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1</a:t>
                  </a:r>
                  <a:endParaRPr b="1" sz="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24" name="Google Shape;424;p22"/>
                <p:cNvSpPr txBox="1"/>
                <p:nvPr/>
              </p:nvSpPr>
              <p:spPr>
                <a:xfrm>
                  <a:off x="571500" y="114300"/>
                  <a:ext cx="4572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25">
                      <a:solidFill>
                        <a:srgbClr val="3B5B78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Этап 1: Проведение медиации</a:t>
                  </a:r>
                  <a:endParaRPr b="0" sz="925">
                    <a:solidFill>
                      <a:srgbClr val="3B5B7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600"/>
                    </a:spcAft>
                    <a:buNone/>
                  </a:pPr>
                  <a:r>
                    <a:rPr b="0" lang="en" sz="925">
                      <a:solidFill>
                        <a:srgbClr val="4A556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Нормализация коммуникации и устранение межличностных конфликтов.</a:t>
                  </a:r>
                  <a:endParaRPr b="0" sz="925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25" name="Google Shape;425;p22"/>
              <p:cNvGrpSpPr/>
              <p:nvPr/>
            </p:nvGrpSpPr>
            <p:grpSpPr>
              <a:xfrm>
                <a:off x="0" y="723900"/>
                <a:ext cx="5334000" cy="609600"/>
                <a:chOff x="0" y="0"/>
                <a:chExt cx="5334000" cy="609600"/>
              </a:xfrm>
            </p:grpSpPr>
            <p:sp>
              <p:nvSpPr>
                <p:cNvPr id="426" name="Google Shape;426;p22"/>
                <p:cNvSpPr/>
                <p:nvPr/>
              </p:nvSpPr>
              <p:spPr>
                <a:xfrm>
                  <a:off x="0" y="0"/>
                  <a:ext cx="5334000" cy="609600"/>
                </a:xfrm>
                <a:prstGeom prst="roundRect">
                  <a:avLst>
                    <a:gd fmla="val 9375" name="adj"/>
                  </a:avLst>
                </a:prstGeom>
                <a:solidFill>
                  <a:srgbClr val="F8F9FA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" name="Google Shape;427;p22"/>
                <p:cNvSpPr/>
                <p:nvPr/>
              </p:nvSpPr>
              <p:spPr>
                <a:xfrm>
                  <a:off x="0" y="0"/>
                  <a:ext cx="57300" cy="609600"/>
                </a:xfrm>
                <a:prstGeom prst="roundRect">
                  <a:avLst>
                    <a:gd fmla="val 33333" name="adj"/>
                  </a:avLst>
                </a:prstGeom>
                <a:solidFill>
                  <a:srgbClr val="81B29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22"/>
                <p:cNvSpPr/>
                <p:nvPr/>
              </p:nvSpPr>
              <p:spPr>
                <a:xfrm>
                  <a:off x="171450" y="171450"/>
                  <a:ext cx="266700" cy="266700"/>
                </a:xfrm>
                <a:prstGeom prst="ellipse">
                  <a:avLst/>
                </a:prstGeom>
                <a:solidFill>
                  <a:srgbClr val="3B5B7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" name="Google Shape;429;p22"/>
                <p:cNvSpPr txBox="1"/>
                <p:nvPr/>
              </p:nvSpPr>
              <p:spPr>
                <a:xfrm>
                  <a:off x="209550" y="209550"/>
                  <a:ext cx="190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2</a:t>
                  </a:r>
                  <a:endParaRPr b="1" sz="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30" name="Google Shape;430;p22"/>
                <p:cNvSpPr txBox="1"/>
                <p:nvPr/>
              </p:nvSpPr>
              <p:spPr>
                <a:xfrm>
                  <a:off x="571500" y="114300"/>
                  <a:ext cx="4572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3B5B78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Этап 2: Data-driven культура</a:t>
                  </a:r>
                  <a:endParaRPr b="0" sz="1000">
                    <a:solidFill>
                      <a:srgbClr val="3B5B7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600"/>
                    </a:spcAft>
                    <a:buNone/>
                  </a:pPr>
                  <a:r>
                    <a:rPr b="0" lang="en" sz="1000">
                      <a:solidFill>
                        <a:srgbClr val="4A556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Внедрение прозрачной системы принятия решений на основе данных.</a:t>
                  </a:r>
                  <a:endParaRPr b="0" sz="10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grpSp>
          <p:nvGrpSpPr>
            <p:cNvPr id="431" name="Google Shape;431;p22"/>
            <p:cNvGrpSpPr/>
            <p:nvPr/>
          </p:nvGrpSpPr>
          <p:grpSpPr>
            <a:xfrm>
              <a:off x="3429000" y="1905000"/>
              <a:ext cx="5334000" cy="2667000"/>
              <a:chOff x="0" y="0"/>
              <a:chExt cx="5334000" cy="2667000"/>
            </a:xfrm>
          </p:grpSpPr>
          <p:sp>
            <p:nvSpPr>
              <p:cNvPr id="432" name="Google Shape;432;p22"/>
              <p:cNvSpPr txBox="1"/>
              <p:nvPr/>
            </p:nvSpPr>
            <p:spPr>
              <a:xfrm>
                <a:off x="0" y="0"/>
                <a:ext cx="5334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3B5B7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Почему это оптимально:</a:t>
                </a:r>
                <a:endParaRPr b="0" sz="1400">
                  <a:solidFill>
                    <a:srgbClr val="3B5B7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grpSp>
            <p:nvGrpSpPr>
              <p:cNvPr id="433" name="Google Shape;433;p22"/>
              <p:cNvGrpSpPr/>
              <p:nvPr/>
            </p:nvGrpSpPr>
            <p:grpSpPr>
              <a:xfrm>
                <a:off x="0" y="304800"/>
                <a:ext cx="2590800" cy="1143000"/>
                <a:chOff x="0" y="0"/>
                <a:chExt cx="2590800" cy="1143000"/>
              </a:xfrm>
            </p:grpSpPr>
            <p:sp>
              <p:nvSpPr>
                <p:cNvPr id="434" name="Google Shape;434;p22"/>
                <p:cNvSpPr/>
                <p:nvPr/>
              </p:nvSpPr>
              <p:spPr>
                <a:xfrm>
                  <a:off x="0" y="0"/>
                  <a:ext cx="2590800" cy="1143000"/>
                </a:xfrm>
                <a:prstGeom prst="roundRect">
                  <a:avLst>
                    <a:gd fmla="val 50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35" name="Google Shape;435;p22"/>
                <p:cNvGrpSpPr/>
                <p:nvPr/>
              </p:nvGrpSpPr>
              <p:grpSpPr>
                <a:xfrm>
                  <a:off x="152400" y="152400"/>
                  <a:ext cx="190500" cy="190500"/>
                  <a:chOff x="19050" y="19050"/>
                  <a:chExt cx="190500" cy="190500"/>
                </a:xfrm>
              </p:grpSpPr>
              <p:sp>
                <p:nvSpPr>
                  <p:cNvPr id="436" name="Google Shape;436;p22"/>
                  <p:cNvSpPr/>
                  <p:nvPr/>
                </p:nvSpPr>
                <p:spPr>
                  <a:xfrm>
                    <a:off x="19050" y="19050"/>
                    <a:ext cx="190500" cy="190500"/>
                  </a:xfrm>
                  <a:prstGeom prst="ellipse">
                    <a:avLst/>
                  </a:prstGeom>
                  <a:solidFill>
                    <a:srgbClr val="81B29A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7" name="Google Shape;437;p22"/>
                  <p:cNvSpPr/>
                  <p:nvPr/>
                </p:nvSpPr>
                <p:spPr>
                  <a:xfrm>
                    <a:off x="66675" y="76200"/>
                    <a:ext cx="104700" cy="714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64000"/>
                        </a:moveTo>
                        <a:lnTo>
                          <a:pt x="38182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81B2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38" name="Google Shape;438;p22"/>
                <p:cNvSpPr txBox="1"/>
                <p:nvPr/>
              </p:nvSpPr>
              <p:spPr>
                <a:xfrm>
                  <a:off x="400050" y="114300"/>
                  <a:ext cx="2076600" cy="91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1A253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Комплексное решение</a:t>
                  </a:r>
                  <a:endParaRPr b="0" sz="1000">
                    <a:solidFill>
                      <a:srgbClr val="1A253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600"/>
                    </a:spcAft>
                    <a:buNone/>
                  </a:pPr>
                  <a:r>
                    <a:rPr b="0" lang="en" sz="950">
                      <a:solidFill>
                        <a:srgbClr val="4A556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Балансирует скорость и качество, устраняя как причины, так и симптомы проблемы.</a:t>
                  </a:r>
                  <a:endParaRPr b="0" sz="95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39" name="Google Shape;439;p22"/>
              <p:cNvGrpSpPr/>
              <p:nvPr/>
            </p:nvGrpSpPr>
            <p:grpSpPr>
              <a:xfrm>
                <a:off x="2743200" y="304800"/>
                <a:ext cx="2590800" cy="1143000"/>
                <a:chOff x="0" y="0"/>
                <a:chExt cx="2590800" cy="1143000"/>
              </a:xfrm>
            </p:grpSpPr>
            <p:sp>
              <p:nvSpPr>
                <p:cNvPr id="440" name="Google Shape;440;p22"/>
                <p:cNvSpPr/>
                <p:nvPr/>
              </p:nvSpPr>
              <p:spPr>
                <a:xfrm>
                  <a:off x="0" y="0"/>
                  <a:ext cx="2590800" cy="1143000"/>
                </a:xfrm>
                <a:prstGeom prst="roundRect">
                  <a:avLst>
                    <a:gd fmla="val 50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41" name="Google Shape;441;p22"/>
                <p:cNvGrpSpPr/>
                <p:nvPr/>
              </p:nvGrpSpPr>
              <p:grpSpPr>
                <a:xfrm>
                  <a:off x="152400" y="152400"/>
                  <a:ext cx="190500" cy="190500"/>
                  <a:chOff x="19050" y="19050"/>
                  <a:chExt cx="190500" cy="190500"/>
                </a:xfrm>
              </p:grpSpPr>
              <p:sp>
                <p:nvSpPr>
                  <p:cNvPr id="442" name="Google Shape;442;p22"/>
                  <p:cNvSpPr/>
                  <p:nvPr/>
                </p:nvSpPr>
                <p:spPr>
                  <a:xfrm>
                    <a:off x="19050" y="19050"/>
                    <a:ext cx="190500" cy="190500"/>
                  </a:xfrm>
                  <a:prstGeom prst="ellipse">
                    <a:avLst/>
                  </a:prstGeom>
                  <a:solidFill>
                    <a:srgbClr val="81B29A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3" name="Google Shape;443;p22"/>
                  <p:cNvSpPr/>
                  <p:nvPr/>
                </p:nvSpPr>
                <p:spPr>
                  <a:xfrm>
                    <a:off x="66675" y="76200"/>
                    <a:ext cx="104700" cy="714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64000"/>
                        </a:moveTo>
                        <a:lnTo>
                          <a:pt x="38182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81B2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44" name="Google Shape;444;p22"/>
                <p:cNvSpPr txBox="1"/>
                <p:nvPr/>
              </p:nvSpPr>
              <p:spPr>
                <a:xfrm>
                  <a:off x="400050" y="114300"/>
                  <a:ext cx="2076600" cy="91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1A253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Минимизация рисков</a:t>
                  </a:r>
                  <a:endParaRPr b="0" sz="1000">
                    <a:solidFill>
                      <a:srgbClr val="1A253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600"/>
                    </a:spcAft>
                    <a:buNone/>
                  </a:pPr>
                  <a:r>
                    <a:rPr b="0" lang="en" sz="950">
                      <a:solidFill>
                        <a:srgbClr val="4A556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Предотвращает распад команды и сохраняет ключевую экспертизу внутри стартапа.</a:t>
                  </a:r>
                  <a:endParaRPr b="0" sz="95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45" name="Google Shape;445;p22"/>
              <p:cNvGrpSpPr/>
              <p:nvPr/>
            </p:nvGrpSpPr>
            <p:grpSpPr>
              <a:xfrm>
                <a:off x="0" y="1524000"/>
                <a:ext cx="2590800" cy="1143000"/>
                <a:chOff x="0" y="0"/>
                <a:chExt cx="2590800" cy="1143000"/>
              </a:xfrm>
            </p:grpSpPr>
            <p:sp>
              <p:nvSpPr>
                <p:cNvPr id="446" name="Google Shape;446;p22"/>
                <p:cNvSpPr/>
                <p:nvPr/>
              </p:nvSpPr>
              <p:spPr>
                <a:xfrm>
                  <a:off x="0" y="0"/>
                  <a:ext cx="2590800" cy="1143000"/>
                </a:xfrm>
                <a:prstGeom prst="roundRect">
                  <a:avLst>
                    <a:gd fmla="val 50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47" name="Google Shape;447;p22"/>
                <p:cNvGrpSpPr/>
                <p:nvPr/>
              </p:nvGrpSpPr>
              <p:grpSpPr>
                <a:xfrm>
                  <a:off x="152400" y="152400"/>
                  <a:ext cx="190500" cy="190500"/>
                  <a:chOff x="19050" y="19050"/>
                  <a:chExt cx="190500" cy="190500"/>
                </a:xfrm>
              </p:grpSpPr>
              <p:sp>
                <p:nvSpPr>
                  <p:cNvPr id="448" name="Google Shape;448;p22"/>
                  <p:cNvSpPr/>
                  <p:nvPr/>
                </p:nvSpPr>
                <p:spPr>
                  <a:xfrm>
                    <a:off x="19050" y="19050"/>
                    <a:ext cx="190500" cy="190500"/>
                  </a:xfrm>
                  <a:prstGeom prst="ellipse">
                    <a:avLst/>
                  </a:prstGeom>
                  <a:solidFill>
                    <a:srgbClr val="81B29A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9" name="Google Shape;449;p22"/>
                  <p:cNvSpPr/>
                  <p:nvPr/>
                </p:nvSpPr>
                <p:spPr>
                  <a:xfrm>
                    <a:off x="66675" y="76200"/>
                    <a:ext cx="104700" cy="714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64000"/>
                        </a:moveTo>
                        <a:lnTo>
                          <a:pt x="38182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81B2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50" name="Google Shape;450;p22"/>
                <p:cNvSpPr txBox="1"/>
                <p:nvPr/>
              </p:nvSpPr>
              <p:spPr>
                <a:xfrm>
                  <a:off x="400050" y="114300"/>
                  <a:ext cx="2076600" cy="91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1A253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Устойчивость результата</a:t>
                  </a:r>
                  <a:endParaRPr b="0" sz="1000">
                    <a:solidFill>
                      <a:srgbClr val="1A253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600"/>
                    </a:spcAft>
                    <a:buNone/>
                  </a:pPr>
                  <a:r>
                    <a:rPr b="0" lang="en" sz="950">
                      <a:solidFill>
                        <a:srgbClr val="4A556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Гарантирует долгосрочную стабильность операционных процессов и коммуникации.</a:t>
                  </a:r>
                  <a:endParaRPr b="0" sz="95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51" name="Google Shape;451;p22"/>
              <p:cNvGrpSpPr/>
              <p:nvPr/>
            </p:nvGrpSpPr>
            <p:grpSpPr>
              <a:xfrm>
                <a:off x="2743200" y="1524000"/>
                <a:ext cx="2590800" cy="1143000"/>
                <a:chOff x="0" y="0"/>
                <a:chExt cx="2590800" cy="1143000"/>
              </a:xfrm>
            </p:grpSpPr>
            <p:sp>
              <p:nvSpPr>
                <p:cNvPr id="452" name="Google Shape;452;p22"/>
                <p:cNvSpPr/>
                <p:nvPr/>
              </p:nvSpPr>
              <p:spPr>
                <a:xfrm>
                  <a:off x="0" y="0"/>
                  <a:ext cx="2590800" cy="1143000"/>
                </a:xfrm>
                <a:prstGeom prst="roundRect">
                  <a:avLst>
                    <a:gd fmla="val 50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53" name="Google Shape;453;p22"/>
                <p:cNvGrpSpPr/>
                <p:nvPr/>
              </p:nvGrpSpPr>
              <p:grpSpPr>
                <a:xfrm>
                  <a:off x="152400" y="152400"/>
                  <a:ext cx="190500" cy="190500"/>
                  <a:chOff x="19050" y="19050"/>
                  <a:chExt cx="190500" cy="190500"/>
                </a:xfrm>
              </p:grpSpPr>
              <p:sp>
                <p:nvSpPr>
                  <p:cNvPr id="454" name="Google Shape;454;p22"/>
                  <p:cNvSpPr/>
                  <p:nvPr/>
                </p:nvSpPr>
                <p:spPr>
                  <a:xfrm>
                    <a:off x="19050" y="19050"/>
                    <a:ext cx="190500" cy="190500"/>
                  </a:xfrm>
                  <a:prstGeom prst="ellipse">
                    <a:avLst/>
                  </a:prstGeom>
                  <a:solidFill>
                    <a:srgbClr val="81B29A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5" name="Google Shape;455;p22"/>
                  <p:cNvSpPr/>
                  <p:nvPr/>
                </p:nvSpPr>
                <p:spPr>
                  <a:xfrm>
                    <a:off x="66675" y="76200"/>
                    <a:ext cx="104700" cy="714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64000"/>
                        </a:moveTo>
                        <a:lnTo>
                          <a:pt x="38182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81B2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56" name="Google Shape;456;p22"/>
                <p:cNvSpPr txBox="1"/>
                <p:nvPr/>
              </p:nvSpPr>
              <p:spPr>
                <a:xfrm>
                  <a:off x="400050" y="114300"/>
                  <a:ext cx="2076600" cy="91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25">
                      <a:solidFill>
                        <a:srgbClr val="1A2530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Инвестиционная привлекательность</a:t>
                  </a:r>
                  <a:endParaRPr b="0" sz="925">
                    <a:solidFill>
                      <a:srgbClr val="1A253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600"/>
                    </a:spcAft>
                    <a:buNone/>
                  </a:pPr>
                  <a:r>
                    <a:rPr b="0" lang="en" sz="879">
                      <a:solidFill>
                        <a:srgbClr val="4A556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Повышает доверие и привлекательность стартапа в глазах потенциальных инвесторов.</a:t>
                  </a:r>
                  <a:endParaRPr b="0" sz="879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62" name="Google Shape;462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3" name="Google Shape;463;p23"/>
            <p:cNvGrpSpPr/>
            <p:nvPr/>
          </p:nvGrpSpPr>
          <p:grpSpPr>
            <a:xfrm>
              <a:off x="7429500" y="285750"/>
              <a:ext cx="1333500" cy="228600"/>
              <a:chOff x="0" y="0"/>
              <a:chExt cx="1333500" cy="228600"/>
            </a:xfrm>
          </p:grpSpPr>
          <p:sp>
            <p:nvSpPr>
              <p:cNvPr id="464" name="Google Shape;464;p23"/>
              <p:cNvSpPr/>
              <p:nvPr/>
            </p:nvSpPr>
            <p:spPr>
              <a:xfrm>
                <a:off x="0" y="0"/>
                <a:ext cx="1333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3"/>
              <p:cNvSpPr txBox="1"/>
              <p:nvPr/>
            </p:nvSpPr>
            <p:spPr>
              <a:xfrm>
                <a:off x="95250" y="190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IT STARTUP LAB</a:t>
                </a:r>
                <a:endParaRPr b="0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466" name="Google Shape;466;p23"/>
            <p:cNvGrpSpPr/>
            <p:nvPr/>
          </p:nvGrpSpPr>
          <p:grpSpPr>
            <a:xfrm>
              <a:off x="381000" y="952500"/>
              <a:ext cx="8382000" cy="19200"/>
              <a:chOff x="0" y="0"/>
              <a:chExt cx="8382000" cy="19200"/>
            </a:xfrm>
          </p:grpSpPr>
          <p:sp>
            <p:nvSpPr>
              <p:cNvPr id="467" name="Google Shape;467;p23"/>
              <p:cNvSpPr/>
              <p:nvPr/>
            </p:nvSpPr>
            <p:spPr>
              <a:xfrm>
                <a:off x="0" y="0"/>
                <a:ext cx="76200" cy="19200"/>
              </a:xfrm>
              <a:prstGeom prst="rect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3"/>
              <p:cNvSpPr/>
              <p:nvPr/>
            </p:nvSpPr>
            <p:spPr>
              <a:xfrm>
                <a:off x="76200" y="0"/>
                <a:ext cx="83058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9" name="Google Shape;469;p23"/>
            <p:cNvSpPr txBox="1"/>
            <p:nvPr/>
          </p:nvSpPr>
          <p:spPr>
            <a:xfrm>
              <a:off x="381000" y="285750"/>
              <a:ext cx="666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6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Поэтапное внедрение изменений займет до трех месяцев</a:t>
              </a:r>
              <a:endParaRPr b="1" sz="186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0" name="Google Shape;470;p23"/>
          <p:cNvGrpSpPr/>
          <p:nvPr/>
        </p:nvGrpSpPr>
        <p:grpSpPr>
          <a:xfrm>
            <a:off x="381000" y="1533525"/>
            <a:ext cx="8382075" cy="3086100"/>
            <a:chOff x="0" y="104775"/>
            <a:chExt cx="8382075" cy="3086100"/>
          </a:xfrm>
        </p:grpSpPr>
        <p:sp>
          <p:nvSpPr>
            <p:cNvPr id="471" name="Google Shape;471;p23"/>
            <p:cNvSpPr/>
            <p:nvPr/>
          </p:nvSpPr>
          <p:spPr>
            <a:xfrm>
              <a:off x="190500" y="228600"/>
              <a:ext cx="8001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2" name="Google Shape;472;p23"/>
            <p:cNvGrpSpPr/>
            <p:nvPr/>
          </p:nvGrpSpPr>
          <p:grpSpPr>
            <a:xfrm>
              <a:off x="0" y="104775"/>
              <a:ext cx="1952700" cy="3086100"/>
              <a:chOff x="0" y="104775"/>
              <a:chExt cx="1952700" cy="3086100"/>
            </a:xfrm>
          </p:grpSpPr>
          <p:sp>
            <p:nvSpPr>
              <p:cNvPr id="473" name="Google Shape;473;p23"/>
              <p:cNvSpPr/>
              <p:nvPr/>
            </p:nvSpPr>
            <p:spPr>
              <a:xfrm>
                <a:off x="57150" y="104775"/>
                <a:ext cx="266700" cy="266700"/>
              </a:xfrm>
              <a:prstGeom prst="ellipse">
                <a:avLst/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3"/>
              <p:cNvSpPr txBox="1"/>
              <p:nvPr/>
            </p:nvSpPr>
            <p:spPr>
              <a:xfrm>
                <a:off x="57150" y="123825"/>
                <a:ext cx="2667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b="1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75" name="Google Shape;475;p23"/>
              <p:cNvSpPr/>
              <p:nvPr/>
            </p:nvSpPr>
            <p:spPr>
              <a:xfrm>
                <a:off x="0" y="523875"/>
                <a:ext cx="1952700" cy="2667000"/>
              </a:xfrm>
              <a:prstGeom prst="roundRect">
                <a:avLst>
                  <a:gd fmla="val 390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3"/>
              <p:cNvSpPr/>
              <p:nvPr/>
            </p:nvSpPr>
            <p:spPr>
              <a:xfrm>
                <a:off x="0" y="523875"/>
                <a:ext cx="19527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3"/>
              <p:cNvSpPr txBox="1"/>
              <p:nvPr/>
            </p:nvSpPr>
            <p:spPr>
              <a:xfrm>
                <a:off x="152400" y="714375"/>
                <a:ext cx="16479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B5B7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Недели 1–2</a:t>
                </a:r>
                <a:endParaRPr b="0" sz="1100">
                  <a:solidFill>
                    <a:srgbClr val="3B5B7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600"/>
                  </a:spcAft>
                  <a:buNone/>
                </a:pPr>
                <a:r>
                  <a:rPr b="0" lang="en" sz="10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Проведение facilitated session, выявление корневых причин конфликта, фиксация договорённостей о правилах взаимодействия.</a:t>
                </a:r>
                <a:endParaRPr b="0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78" name="Google Shape;478;p23"/>
            <p:cNvGrpSpPr/>
            <p:nvPr/>
          </p:nvGrpSpPr>
          <p:grpSpPr>
            <a:xfrm>
              <a:off x="2143125" y="104775"/>
              <a:ext cx="1952700" cy="3086100"/>
              <a:chOff x="0" y="104775"/>
              <a:chExt cx="1952700" cy="3086100"/>
            </a:xfrm>
          </p:grpSpPr>
          <p:sp>
            <p:nvSpPr>
              <p:cNvPr id="479" name="Google Shape;479;p23"/>
              <p:cNvSpPr/>
              <p:nvPr/>
            </p:nvSpPr>
            <p:spPr>
              <a:xfrm>
                <a:off x="57150" y="104775"/>
                <a:ext cx="266700" cy="266700"/>
              </a:xfrm>
              <a:prstGeom prst="ellipse">
                <a:avLst/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3"/>
              <p:cNvSpPr txBox="1"/>
              <p:nvPr/>
            </p:nvSpPr>
            <p:spPr>
              <a:xfrm>
                <a:off x="57150" y="123825"/>
                <a:ext cx="2667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b="1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1" name="Google Shape;481;p23"/>
              <p:cNvSpPr/>
              <p:nvPr/>
            </p:nvSpPr>
            <p:spPr>
              <a:xfrm>
                <a:off x="0" y="523875"/>
                <a:ext cx="1952700" cy="2667000"/>
              </a:xfrm>
              <a:prstGeom prst="roundRect">
                <a:avLst>
                  <a:gd fmla="val 390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3"/>
              <p:cNvSpPr/>
              <p:nvPr/>
            </p:nvSpPr>
            <p:spPr>
              <a:xfrm>
                <a:off x="0" y="523875"/>
                <a:ext cx="19527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3"/>
              <p:cNvSpPr txBox="1"/>
              <p:nvPr/>
            </p:nvSpPr>
            <p:spPr>
              <a:xfrm>
                <a:off x="152400" y="714375"/>
                <a:ext cx="16479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B5B7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Недели 3–4</a:t>
                </a:r>
                <a:endParaRPr b="0" sz="1100">
                  <a:solidFill>
                    <a:srgbClr val="3B5B7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600"/>
                  </a:spcAft>
                  <a:buNone/>
                </a:pPr>
                <a:r>
                  <a:rPr b="0" lang="en" sz="10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Определение ключевых метрик продукта, создание фреймворка для проверки гипотез, обучение команды data-driven подходу.</a:t>
                </a:r>
                <a:endParaRPr b="0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4" name="Google Shape;484;p23"/>
            <p:cNvGrpSpPr/>
            <p:nvPr/>
          </p:nvGrpSpPr>
          <p:grpSpPr>
            <a:xfrm>
              <a:off x="4286250" y="104775"/>
              <a:ext cx="1952700" cy="3086100"/>
              <a:chOff x="0" y="104775"/>
              <a:chExt cx="1952700" cy="3086100"/>
            </a:xfrm>
          </p:grpSpPr>
          <p:sp>
            <p:nvSpPr>
              <p:cNvPr id="485" name="Google Shape;485;p23"/>
              <p:cNvSpPr/>
              <p:nvPr/>
            </p:nvSpPr>
            <p:spPr>
              <a:xfrm>
                <a:off x="57150" y="104775"/>
                <a:ext cx="266700" cy="266700"/>
              </a:xfrm>
              <a:prstGeom prst="ellipse">
                <a:avLst/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3"/>
              <p:cNvSpPr txBox="1"/>
              <p:nvPr/>
            </p:nvSpPr>
            <p:spPr>
              <a:xfrm>
                <a:off x="57150" y="123825"/>
                <a:ext cx="2667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b="1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7" name="Google Shape;487;p23"/>
              <p:cNvSpPr/>
              <p:nvPr/>
            </p:nvSpPr>
            <p:spPr>
              <a:xfrm>
                <a:off x="0" y="523875"/>
                <a:ext cx="1952700" cy="2667000"/>
              </a:xfrm>
              <a:prstGeom prst="roundRect">
                <a:avLst>
                  <a:gd fmla="val 390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3"/>
              <p:cNvSpPr/>
              <p:nvPr/>
            </p:nvSpPr>
            <p:spPr>
              <a:xfrm>
                <a:off x="0" y="523875"/>
                <a:ext cx="19527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3"/>
              <p:cNvSpPr txBox="1"/>
              <p:nvPr/>
            </p:nvSpPr>
            <p:spPr>
              <a:xfrm>
                <a:off x="152400" y="714375"/>
                <a:ext cx="16479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B5B7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Месяц 2–3</a:t>
                </a:r>
                <a:endParaRPr b="0" sz="1100">
                  <a:solidFill>
                    <a:srgbClr val="3B5B7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600"/>
                  </a:spcAft>
                  <a:buNone/>
                </a:pPr>
                <a:r>
                  <a:rPr b="0" lang="en" sz="10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Запуск первых A/B тестов по спорным вопросам, регулярные review-сессии на основе данных, закрепление новых процессов.</a:t>
                </a:r>
                <a:endParaRPr b="0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>
              <a:off x="6429375" y="104775"/>
              <a:ext cx="1952700" cy="3086100"/>
              <a:chOff x="0" y="104775"/>
              <a:chExt cx="1952700" cy="3086100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57150" y="104775"/>
                <a:ext cx="266700" cy="266700"/>
              </a:xfrm>
              <a:prstGeom prst="ellipse">
                <a:avLst/>
              </a:prstGeom>
              <a:solidFill>
                <a:srgbClr val="81B29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3"/>
              <p:cNvSpPr txBox="1"/>
              <p:nvPr/>
            </p:nvSpPr>
            <p:spPr>
              <a:xfrm>
                <a:off x="57150" y="123825"/>
                <a:ext cx="2667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4</a:t>
                </a:r>
                <a:endParaRPr b="1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0" y="523875"/>
                <a:ext cx="1952700" cy="2667000"/>
              </a:xfrm>
              <a:prstGeom prst="roundRect">
                <a:avLst>
                  <a:gd fmla="val 390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3"/>
              <p:cNvSpPr/>
              <p:nvPr/>
            </p:nvSpPr>
            <p:spPr>
              <a:xfrm>
                <a:off x="0" y="523875"/>
                <a:ext cx="19527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1B29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3"/>
              <p:cNvSpPr txBox="1"/>
              <p:nvPr/>
            </p:nvSpPr>
            <p:spPr>
              <a:xfrm>
                <a:off x="152400" y="714375"/>
                <a:ext cx="16479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81B29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Долгосрочно</a:t>
                </a:r>
                <a:endParaRPr b="0" sz="1100">
                  <a:solidFill>
                    <a:srgbClr val="81B29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600"/>
                  </a:spcAft>
                  <a:buNone/>
                </a:pPr>
                <a:r>
                  <a:rPr b="0" lang="en" sz="10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Культура экспериментов, формирование базы знаний из результатов тестов, регулярный пересмотр процессов.</a:t>
                </a:r>
                <a:endParaRPr b="0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01" name="Google Shape;501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2" name="Google Shape;502;p24"/>
            <p:cNvGrpSpPr/>
            <p:nvPr/>
          </p:nvGrpSpPr>
          <p:grpSpPr>
            <a:xfrm>
              <a:off x="7429500" y="285750"/>
              <a:ext cx="1333500" cy="228600"/>
              <a:chOff x="0" y="0"/>
              <a:chExt cx="1333500" cy="228600"/>
            </a:xfrm>
          </p:grpSpPr>
          <p:sp>
            <p:nvSpPr>
              <p:cNvPr id="503" name="Google Shape;503;p24"/>
              <p:cNvSpPr/>
              <p:nvPr/>
            </p:nvSpPr>
            <p:spPr>
              <a:xfrm>
                <a:off x="0" y="0"/>
                <a:ext cx="1333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4"/>
              <p:cNvSpPr txBox="1"/>
              <p:nvPr/>
            </p:nvSpPr>
            <p:spPr>
              <a:xfrm>
                <a:off x="95250" y="190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IT STARTUP LAB</a:t>
                </a:r>
                <a:endParaRPr b="0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505" name="Google Shape;505;p24"/>
            <p:cNvGrpSpPr/>
            <p:nvPr/>
          </p:nvGrpSpPr>
          <p:grpSpPr>
            <a:xfrm>
              <a:off x="381000" y="952500"/>
              <a:ext cx="8382000" cy="19200"/>
              <a:chOff x="0" y="0"/>
              <a:chExt cx="8382000" cy="19200"/>
            </a:xfrm>
          </p:grpSpPr>
          <p:sp>
            <p:nvSpPr>
              <p:cNvPr id="506" name="Google Shape;506;p24"/>
              <p:cNvSpPr/>
              <p:nvPr/>
            </p:nvSpPr>
            <p:spPr>
              <a:xfrm>
                <a:off x="0" y="0"/>
                <a:ext cx="76200" cy="19200"/>
              </a:xfrm>
              <a:prstGeom prst="rect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4"/>
              <p:cNvSpPr/>
              <p:nvPr/>
            </p:nvSpPr>
            <p:spPr>
              <a:xfrm>
                <a:off x="76200" y="0"/>
                <a:ext cx="83058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8" name="Google Shape;508;p24"/>
            <p:cNvSpPr txBox="1"/>
            <p:nvPr/>
          </p:nvSpPr>
          <p:spPr>
            <a:xfrm>
              <a:off x="381000" y="285750"/>
              <a:ext cx="685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6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Успех измеряется снижением конфликтов и ростом скорости решений</a:t>
              </a:r>
              <a:endParaRPr b="1" sz="186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09" name="Google Shape;509;p24"/>
          <p:cNvSpPr txBox="1"/>
          <p:nvPr/>
        </p:nvSpPr>
        <p:spPr>
          <a:xfrm>
            <a:off x="381000" y="11239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1400">
                <a:solidFill>
                  <a:srgbClr val="3B5B7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Критерии успеха внедренного решения:</a:t>
            </a:r>
            <a:endParaRPr b="0" sz="1400">
              <a:solidFill>
                <a:srgbClr val="3B5B7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10" name="Google Shape;510;p24"/>
          <p:cNvGrpSpPr/>
          <p:nvPr/>
        </p:nvGrpSpPr>
        <p:grpSpPr>
          <a:xfrm>
            <a:off x="381000" y="1524000"/>
            <a:ext cx="4048200" cy="1428900"/>
            <a:chOff x="0" y="0"/>
            <a:chExt cx="4048200" cy="1428900"/>
          </a:xfrm>
        </p:grpSpPr>
        <p:sp>
          <p:nvSpPr>
            <p:cNvPr id="511" name="Google Shape;511;p24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33333" name="adj"/>
              </a:avLst>
            </a:prstGeom>
            <a:solidFill>
              <a:srgbClr val="81B2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4"/>
            <p:cNvSpPr txBox="1"/>
            <p:nvPr/>
          </p:nvSpPr>
          <p:spPr>
            <a:xfrm>
              <a:off x="228600" y="190500"/>
              <a:ext cx="359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81B29A"/>
                  </a:solidFill>
                  <a:latin typeface="Inter"/>
                  <a:ea typeface="Inter"/>
                  <a:cs typeface="Inter"/>
                  <a:sym typeface="Inter"/>
                </a:rPr>
                <a:t>-80%</a:t>
              </a:r>
              <a:endParaRPr b="1" sz="3200">
                <a:solidFill>
                  <a:srgbClr val="81B29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Снижение конфликтов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Снижение количества эскалированных конфликтов на 80%.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4" name="Google Shape;514;p24"/>
          <p:cNvGrpSpPr/>
          <p:nvPr/>
        </p:nvGrpSpPr>
        <p:grpSpPr>
          <a:xfrm>
            <a:off x="4714875" y="1524000"/>
            <a:ext cx="4048200" cy="1428900"/>
            <a:chOff x="0" y="0"/>
            <a:chExt cx="4048200" cy="1428900"/>
          </a:xfrm>
        </p:grpSpPr>
        <p:sp>
          <p:nvSpPr>
            <p:cNvPr id="515" name="Google Shape;515;p24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33333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4"/>
            <p:cNvSpPr txBox="1"/>
            <p:nvPr/>
          </p:nvSpPr>
          <p:spPr>
            <a:xfrm>
              <a:off x="228600" y="190500"/>
              <a:ext cx="359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3B5B78"/>
                  </a:solidFill>
                  <a:latin typeface="Inter"/>
                  <a:ea typeface="Inter"/>
                  <a:cs typeface="Inter"/>
                  <a:sym typeface="Inter"/>
                </a:rPr>
                <a:t>+50%</a:t>
              </a:r>
              <a:endParaRPr b="1" sz="3200">
                <a:solidFill>
                  <a:srgbClr val="3B5B7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Скорость решений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Увеличение скорости принятия решений на 50%.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8" name="Google Shape;518;p24"/>
          <p:cNvGrpSpPr/>
          <p:nvPr/>
        </p:nvGrpSpPr>
        <p:grpSpPr>
          <a:xfrm>
            <a:off x="381000" y="3190875"/>
            <a:ext cx="4048200" cy="1428900"/>
            <a:chOff x="0" y="0"/>
            <a:chExt cx="4048200" cy="1428900"/>
          </a:xfrm>
        </p:grpSpPr>
        <p:sp>
          <p:nvSpPr>
            <p:cNvPr id="519" name="Google Shape;519;p24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33333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 txBox="1"/>
            <p:nvPr/>
          </p:nvSpPr>
          <p:spPr>
            <a:xfrm>
              <a:off x="228600" y="190500"/>
              <a:ext cx="359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3B5B78"/>
                  </a:solidFill>
                  <a:latin typeface="Inter"/>
                  <a:ea typeface="Inter"/>
                  <a:cs typeface="Inter"/>
                  <a:sym typeface="Inter"/>
                </a:rPr>
                <a:t>РОСТ</a:t>
              </a:r>
              <a:endParaRPr b="1" sz="3200">
                <a:solidFill>
                  <a:srgbClr val="3B5B7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Удовлетворённость команды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Рост удовлетворённости команды по результатам регулярных внутренних опросов.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2" name="Google Shape;522;p24"/>
          <p:cNvGrpSpPr/>
          <p:nvPr/>
        </p:nvGrpSpPr>
        <p:grpSpPr>
          <a:xfrm>
            <a:off x="4714875" y="3190875"/>
            <a:ext cx="4048200" cy="1428900"/>
            <a:chOff x="0" y="0"/>
            <a:chExt cx="4048200" cy="1428900"/>
          </a:xfrm>
        </p:grpSpPr>
        <p:sp>
          <p:nvSpPr>
            <p:cNvPr id="523" name="Google Shape;523;p24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33333" name="adj"/>
              </a:avLst>
            </a:prstGeom>
            <a:solidFill>
              <a:srgbClr val="81B2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 txBox="1"/>
            <p:nvPr/>
          </p:nvSpPr>
          <p:spPr>
            <a:xfrm>
              <a:off x="228600" y="190500"/>
              <a:ext cx="359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81B29A"/>
                  </a:solidFill>
                  <a:latin typeface="Inter"/>
                  <a:ea typeface="Inter"/>
                  <a:cs typeface="Inter"/>
                  <a:sym typeface="Inter"/>
                </a:rPr>
                <a:t>PMF</a:t>
              </a:r>
              <a:endParaRPr b="1" sz="3200">
                <a:solidFill>
                  <a:srgbClr val="81B29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Product-Market Fit</a:t>
              </a:r>
              <a:endParaRPr b="0" sz="10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Улучшение product-market fit на основе объективных данных.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2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31" name="Google Shape;531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2" name="Google Shape;532;p25"/>
            <p:cNvGrpSpPr/>
            <p:nvPr/>
          </p:nvGrpSpPr>
          <p:grpSpPr>
            <a:xfrm>
              <a:off x="7429500" y="285750"/>
              <a:ext cx="1333500" cy="228600"/>
              <a:chOff x="0" y="0"/>
              <a:chExt cx="1333500" cy="228600"/>
            </a:xfrm>
          </p:grpSpPr>
          <p:sp>
            <p:nvSpPr>
              <p:cNvPr id="533" name="Google Shape;533;p25"/>
              <p:cNvSpPr/>
              <p:nvPr/>
            </p:nvSpPr>
            <p:spPr>
              <a:xfrm>
                <a:off x="0" y="0"/>
                <a:ext cx="1333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B5B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5"/>
              <p:cNvSpPr txBox="1"/>
              <p:nvPr/>
            </p:nvSpPr>
            <p:spPr>
              <a:xfrm>
                <a:off x="95250" y="190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IT STARTUP LAB</a:t>
                </a:r>
                <a:endParaRPr b="0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535" name="Google Shape;535;p25"/>
            <p:cNvGrpSpPr/>
            <p:nvPr/>
          </p:nvGrpSpPr>
          <p:grpSpPr>
            <a:xfrm>
              <a:off x="381000" y="952500"/>
              <a:ext cx="8382000" cy="19200"/>
              <a:chOff x="0" y="0"/>
              <a:chExt cx="8382000" cy="19200"/>
            </a:xfrm>
          </p:grpSpPr>
          <p:sp>
            <p:nvSpPr>
              <p:cNvPr id="536" name="Google Shape;536;p25"/>
              <p:cNvSpPr/>
              <p:nvPr/>
            </p:nvSpPr>
            <p:spPr>
              <a:xfrm>
                <a:off x="0" y="0"/>
                <a:ext cx="76200" cy="19200"/>
              </a:xfrm>
              <a:prstGeom prst="rect">
                <a:avLst/>
              </a:prstGeom>
              <a:solidFill>
                <a:srgbClr val="E07A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5"/>
              <p:cNvSpPr/>
              <p:nvPr/>
            </p:nvSpPr>
            <p:spPr>
              <a:xfrm>
                <a:off x="76200" y="0"/>
                <a:ext cx="83058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8" name="Google Shape;538;p25"/>
            <p:cNvSpPr txBox="1"/>
            <p:nvPr/>
          </p:nvSpPr>
          <p:spPr>
            <a:xfrm>
              <a:off x="381000" y="285750"/>
              <a:ext cx="666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rPr>
                <a:t>Выводы</a:t>
              </a:r>
              <a:endParaRPr b="1" sz="24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9" name="Google Shape;539;p25"/>
          <p:cNvGrpSpPr/>
          <p:nvPr/>
        </p:nvGrpSpPr>
        <p:grpSpPr>
          <a:xfrm>
            <a:off x="400050" y="1190625"/>
            <a:ext cx="8362950" cy="1619175"/>
            <a:chOff x="19050" y="0"/>
            <a:chExt cx="8362950" cy="1619175"/>
          </a:xfrm>
        </p:grpSpPr>
        <p:grpSp>
          <p:nvGrpSpPr>
            <p:cNvPr id="540" name="Google Shape;540;p25"/>
            <p:cNvGrpSpPr/>
            <p:nvPr/>
          </p:nvGrpSpPr>
          <p:grpSpPr>
            <a:xfrm>
              <a:off x="19050" y="0"/>
              <a:ext cx="8362950" cy="333300"/>
              <a:chOff x="19050" y="0"/>
              <a:chExt cx="8362950" cy="333300"/>
            </a:xfrm>
          </p:grpSpPr>
          <p:grpSp>
            <p:nvGrpSpPr>
              <p:cNvPr id="541" name="Google Shape;541;p25"/>
              <p:cNvGrpSpPr/>
              <p:nvPr/>
            </p:nvGrpSpPr>
            <p:grpSpPr>
              <a:xfrm>
                <a:off x="19050" y="38100"/>
                <a:ext cx="190500" cy="190500"/>
                <a:chOff x="19050" y="19050"/>
                <a:chExt cx="190500" cy="190500"/>
              </a:xfrm>
            </p:grpSpPr>
            <p:sp>
              <p:nvSpPr>
                <p:cNvPr id="542" name="Google Shape;542;p25"/>
                <p:cNvSpPr/>
                <p:nvPr/>
              </p:nvSpPr>
              <p:spPr>
                <a:xfrm>
                  <a:off x="19050" y="19050"/>
                  <a:ext cx="190500" cy="190500"/>
                </a:xfrm>
                <a:prstGeom prst="ellipse">
                  <a:avLst/>
                </a:prstGeom>
                <a:solidFill>
                  <a:srgbClr val="81B29A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" name="Google Shape;543;p25"/>
                <p:cNvSpPr/>
                <p:nvPr/>
              </p:nvSpPr>
              <p:spPr>
                <a:xfrm>
                  <a:off x="66675" y="76200"/>
                  <a:ext cx="104700" cy="71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4000"/>
                      </a:moveTo>
                      <a:lnTo>
                        <a:pt x="38182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81B2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44" name="Google Shape;544;p25"/>
              <p:cNvSpPr txBox="1"/>
              <p:nvPr/>
            </p:nvSpPr>
            <p:spPr>
              <a:xfrm>
                <a:off x="304800" y="0"/>
                <a:ext cx="80772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1A2530"/>
                    </a:solidFill>
                    <a:latin typeface="Inter"/>
                    <a:ea typeface="Inter"/>
                    <a:cs typeface="Inter"/>
                    <a:sym typeface="Inter"/>
                  </a:rPr>
                  <a:t>Конфликт в команде — это не только угроза, но и возможность для роста.</a:t>
                </a:r>
                <a:endParaRPr b="0" sz="11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45" name="Google Shape;545;p25"/>
            <p:cNvGrpSpPr/>
            <p:nvPr/>
          </p:nvGrpSpPr>
          <p:grpSpPr>
            <a:xfrm>
              <a:off x="19050" y="428625"/>
              <a:ext cx="8362950" cy="333300"/>
              <a:chOff x="19050" y="0"/>
              <a:chExt cx="8362950" cy="333300"/>
            </a:xfrm>
          </p:grpSpPr>
          <p:grpSp>
            <p:nvGrpSpPr>
              <p:cNvPr id="546" name="Google Shape;546;p25"/>
              <p:cNvGrpSpPr/>
              <p:nvPr/>
            </p:nvGrpSpPr>
            <p:grpSpPr>
              <a:xfrm>
                <a:off x="19050" y="38100"/>
                <a:ext cx="190500" cy="190500"/>
                <a:chOff x="19050" y="19050"/>
                <a:chExt cx="190500" cy="190500"/>
              </a:xfrm>
            </p:grpSpPr>
            <p:sp>
              <p:nvSpPr>
                <p:cNvPr id="547" name="Google Shape;547;p25"/>
                <p:cNvSpPr/>
                <p:nvPr/>
              </p:nvSpPr>
              <p:spPr>
                <a:xfrm>
                  <a:off x="19050" y="19050"/>
                  <a:ext cx="190500" cy="190500"/>
                </a:xfrm>
                <a:prstGeom prst="ellipse">
                  <a:avLst/>
                </a:prstGeom>
                <a:solidFill>
                  <a:srgbClr val="81B29A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" name="Google Shape;548;p25"/>
                <p:cNvSpPr/>
                <p:nvPr/>
              </p:nvSpPr>
              <p:spPr>
                <a:xfrm>
                  <a:off x="66675" y="76200"/>
                  <a:ext cx="104700" cy="71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4000"/>
                      </a:moveTo>
                      <a:lnTo>
                        <a:pt x="38182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81B2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49" name="Google Shape;549;p25"/>
              <p:cNvSpPr txBox="1"/>
              <p:nvPr/>
            </p:nvSpPr>
            <p:spPr>
              <a:xfrm>
                <a:off x="304800" y="0"/>
                <a:ext cx="80772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1A2530"/>
                    </a:solidFill>
                    <a:latin typeface="Inter"/>
                    <a:ea typeface="Inter"/>
                    <a:cs typeface="Inter"/>
                    <a:sym typeface="Inter"/>
                  </a:rPr>
                  <a:t>Оптимальное решение сочетает медиацию и data-driven подход.</a:t>
                </a:r>
                <a:endParaRPr b="0" sz="11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50" name="Google Shape;550;p25"/>
            <p:cNvGrpSpPr/>
            <p:nvPr/>
          </p:nvGrpSpPr>
          <p:grpSpPr>
            <a:xfrm>
              <a:off x="19050" y="857250"/>
              <a:ext cx="8362950" cy="333300"/>
              <a:chOff x="19050" y="0"/>
              <a:chExt cx="8362950" cy="333300"/>
            </a:xfrm>
          </p:grpSpPr>
          <p:grpSp>
            <p:nvGrpSpPr>
              <p:cNvPr id="551" name="Google Shape;551;p25"/>
              <p:cNvGrpSpPr/>
              <p:nvPr/>
            </p:nvGrpSpPr>
            <p:grpSpPr>
              <a:xfrm>
                <a:off x="19050" y="38100"/>
                <a:ext cx="190500" cy="190500"/>
                <a:chOff x="19050" y="19050"/>
                <a:chExt cx="190500" cy="190500"/>
              </a:xfrm>
            </p:grpSpPr>
            <p:sp>
              <p:nvSpPr>
                <p:cNvPr id="552" name="Google Shape;552;p25"/>
                <p:cNvSpPr/>
                <p:nvPr/>
              </p:nvSpPr>
              <p:spPr>
                <a:xfrm>
                  <a:off x="19050" y="19050"/>
                  <a:ext cx="190500" cy="190500"/>
                </a:xfrm>
                <a:prstGeom prst="ellipse">
                  <a:avLst/>
                </a:prstGeom>
                <a:solidFill>
                  <a:srgbClr val="81B29A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" name="Google Shape;553;p25"/>
                <p:cNvSpPr/>
                <p:nvPr/>
              </p:nvSpPr>
              <p:spPr>
                <a:xfrm>
                  <a:off x="66675" y="76200"/>
                  <a:ext cx="104700" cy="71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4000"/>
                      </a:moveTo>
                      <a:lnTo>
                        <a:pt x="38182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81B2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54" name="Google Shape;554;p25"/>
              <p:cNvSpPr txBox="1"/>
              <p:nvPr/>
            </p:nvSpPr>
            <p:spPr>
              <a:xfrm>
                <a:off x="304800" y="0"/>
                <a:ext cx="80772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1A2530"/>
                    </a:solidFill>
                    <a:latin typeface="Inter"/>
                    <a:ea typeface="Inter"/>
                    <a:cs typeface="Inter"/>
                    <a:sym typeface="Inter"/>
                  </a:rPr>
                  <a:t>Этот путь сохраняет команду, снижает риски и повышает институциональную зрелость стартапа.</a:t>
                </a:r>
                <a:endParaRPr b="0" sz="11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55" name="Google Shape;555;p25"/>
            <p:cNvGrpSpPr/>
            <p:nvPr/>
          </p:nvGrpSpPr>
          <p:grpSpPr>
            <a:xfrm>
              <a:off x="19050" y="1285875"/>
              <a:ext cx="8362950" cy="333300"/>
              <a:chOff x="19050" y="0"/>
              <a:chExt cx="8362950" cy="333300"/>
            </a:xfrm>
          </p:grpSpPr>
          <p:grpSp>
            <p:nvGrpSpPr>
              <p:cNvPr id="556" name="Google Shape;556;p25"/>
              <p:cNvGrpSpPr/>
              <p:nvPr/>
            </p:nvGrpSpPr>
            <p:grpSpPr>
              <a:xfrm>
                <a:off x="19050" y="38100"/>
                <a:ext cx="190500" cy="190500"/>
                <a:chOff x="19050" y="19050"/>
                <a:chExt cx="190500" cy="190500"/>
              </a:xfrm>
            </p:grpSpPr>
            <p:sp>
              <p:nvSpPr>
                <p:cNvPr id="557" name="Google Shape;557;p25"/>
                <p:cNvSpPr/>
                <p:nvPr/>
              </p:nvSpPr>
              <p:spPr>
                <a:xfrm>
                  <a:off x="19050" y="19050"/>
                  <a:ext cx="190500" cy="190500"/>
                </a:xfrm>
                <a:prstGeom prst="ellipse">
                  <a:avLst/>
                </a:prstGeom>
                <a:solidFill>
                  <a:srgbClr val="81B29A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25"/>
                <p:cNvSpPr/>
                <p:nvPr/>
              </p:nvSpPr>
              <p:spPr>
                <a:xfrm>
                  <a:off x="66675" y="76200"/>
                  <a:ext cx="104700" cy="71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4000"/>
                      </a:moveTo>
                      <a:lnTo>
                        <a:pt x="38182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81B2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59" name="Google Shape;559;p25"/>
              <p:cNvSpPr txBox="1"/>
              <p:nvPr/>
            </p:nvSpPr>
            <p:spPr>
              <a:xfrm>
                <a:off x="304800" y="0"/>
                <a:ext cx="80772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1100">
                    <a:solidFill>
                      <a:srgbClr val="1A2530"/>
                    </a:solidFill>
                    <a:latin typeface="Inter"/>
                    <a:ea typeface="Inter"/>
                    <a:cs typeface="Inter"/>
                    <a:sym typeface="Inter"/>
                  </a:rPr>
                  <a:t>Для ИИ-консультанта это означает более быстрый и согласованный выход на рынок.</a:t>
                </a:r>
                <a:endParaRPr b="0" sz="1100">
                  <a:solidFill>
                    <a:srgbClr val="1A253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60" name="Google Shape;560;p25"/>
          <p:cNvGrpSpPr/>
          <p:nvPr/>
        </p:nvGrpSpPr>
        <p:grpSpPr>
          <a:xfrm>
            <a:off x="381000" y="3238500"/>
            <a:ext cx="8382000" cy="1333500"/>
            <a:chOff x="0" y="0"/>
            <a:chExt cx="8382000" cy="1333500"/>
          </a:xfrm>
        </p:grpSpPr>
        <p:sp>
          <p:nvSpPr>
            <p:cNvPr id="561" name="Google Shape;561;p25"/>
            <p:cNvSpPr/>
            <p:nvPr/>
          </p:nvSpPr>
          <p:spPr>
            <a:xfrm>
              <a:off x="0" y="0"/>
              <a:ext cx="8382000" cy="1333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5"/>
            <p:cNvSpPr/>
            <p:nvPr/>
          </p:nvSpPr>
          <p:spPr>
            <a:xfrm>
              <a:off x="0" y="0"/>
              <a:ext cx="57300" cy="1333500"/>
            </a:xfrm>
            <a:prstGeom prst="roundRect">
              <a:avLst>
                <a:gd fmla="val 33333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5"/>
            <p:cNvSpPr txBox="1"/>
            <p:nvPr/>
          </p:nvSpPr>
          <p:spPr>
            <a:xfrm>
              <a:off x="304800" y="228600"/>
              <a:ext cx="7772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B5B7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КЛЮЧЕВОЙ ИТОГ</a:t>
              </a:r>
              <a:endParaRPr b="0" sz="800">
                <a:solidFill>
                  <a:srgbClr val="3B5B7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64" name="Google Shape;564;p25"/>
            <p:cNvSpPr txBox="1"/>
            <p:nvPr/>
          </p:nvSpPr>
          <p:spPr>
            <a:xfrm>
              <a:off x="304800" y="495300"/>
              <a:ext cx="77724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" sz="1800">
                  <a:solidFill>
                    <a:srgbClr val="1A253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Преодоление конфликта повышает общую зрелость стартапа</a:t>
              </a:r>
              <a:endParaRPr b="0" sz="1800">
                <a:solidFill>
                  <a:srgbClr val="1A253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6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3B5B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6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26"/>
          <p:cNvGrpSpPr/>
          <p:nvPr/>
        </p:nvGrpSpPr>
        <p:grpSpPr>
          <a:xfrm>
            <a:off x="7429500" y="381000"/>
            <a:ext cx="1333500" cy="228600"/>
            <a:chOff x="0" y="0"/>
            <a:chExt cx="1333500" cy="228600"/>
          </a:xfrm>
        </p:grpSpPr>
        <p:sp>
          <p:nvSpPr>
            <p:cNvPr id="573" name="Google Shape;573;p26"/>
            <p:cNvSpPr/>
            <p:nvPr/>
          </p:nvSpPr>
          <p:spPr>
            <a:xfrm>
              <a:off x="0" y="0"/>
              <a:ext cx="1333500" cy="228600"/>
            </a:xfrm>
            <a:prstGeom prst="roundRect">
              <a:avLst>
                <a:gd fmla="val 16666" name="adj"/>
              </a:avLst>
            </a:prstGeom>
            <a:solidFill>
              <a:srgbClr val="3B5B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6"/>
            <p:cNvSpPr txBox="1"/>
            <p:nvPr/>
          </p:nvSpPr>
          <p:spPr>
            <a:xfrm>
              <a:off x="95250" y="1905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IT STARTUP LAB</a:t>
              </a:r>
              <a:endParaRPr b="0" sz="8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575" name="Google Shape;575;p26"/>
          <p:cNvSpPr txBox="1"/>
          <p:nvPr/>
        </p:nvSpPr>
        <p:spPr>
          <a:xfrm>
            <a:off x="381000" y="381000"/>
            <a:ext cx="22860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Спасибо за внимание!</a:t>
            </a:r>
            <a:endParaRPr b="1" sz="2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600"/>
              </a:spcAft>
              <a:buNone/>
            </a:pPr>
            <a:r>
              <a:rPr b="0" lang="en" sz="1100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Заключительный слайд презентации</a:t>
            </a:r>
            <a:endParaRPr b="0" sz="1100">
              <a:solidFill>
                <a:srgbClr val="F8F9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6" name="Google Shape;576;p26"/>
          <p:cNvSpPr/>
          <p:nvPr/>
        </p:nvSpPr>
        <p:spPr>
          <a:xfrm>
            <a:off x="3429000" y="1333500"/>
            <a:ext cx="5143500" cy="2476500"/>
          </a:xfrm>
          <a:prstGeom prst="roundRect">
            <a:avLst>
              <a:gd fmla="val 3076" name="adj"/>
            </a:avLst>
          </a:prstGeom>
          <a:solidFill>
            <a:srgbClr val="F8F9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6"/>
          <p:cNvSpPr/>
          <p:nvPr/>
        </p:nvSpPr>
        <p:spPr>
          <a:xfrm>
            <a:off x="3429000" y="1333500"/>
            <a:ext cx="57300" cy="2476500"/>
          </a:xfrm>
          <a:prstGeom prst="roundRect">
            <a:avLst>
              <a:gd fmla="val 50000" name="adj"/>
            </a:avLst>
          </a:prstGeom>
          <a:solidFill>
            <a:srgbClr val="81B2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6"/>
          <p:cNvSpPr/>
          <p:nvPr/>
        </p:nvSpPr>
        <p:spPr>
          <a:xfrm>
            <a:off x="3829050" y="1733550"/>
            <a:ext cx="533400" cy="533400"/>
          </a:xfrm>
          <a:prstGeom prst="ellipse">
            <a:avLst/>
          </a:prstGeom>
          <a:solidFill>
            <a:srgbClr val="3B5B78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6"/>
          <p:cNvSpPr/>
          <p:nvPr/>
        </p:nvSpPr>
        <p:spPr>
          <a:xfrm>
            <a:off x="3905250" y="1809750"/>
            <a:ext cx="381000" cy="381000"/>
          </a:xfrm>
          <a:prstGeom prst="ellipse">
            <a:avLst/>
          </a:prstGeom>
          <a:solidFill>
            <a:srgbClr val="3B5B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6"/>
          <p:cNvSpPr/>
          <p:nvPr/>
        </p:nvSpPr>
        <p:spPr>
          <a:xfrm>
            <a:off x="4019550" y="1952625"/>
            <a:ext cx="152400" cy="95400"/>
          </a:xfrm>
          <a:custGeom>
            <a:rect b="b" l="l" r="r" t="t"/>
            <a:pathLst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moveTo>
                  <a:pt x="0" y="60000"/>
                </a:moveTo>
                <a:lnTo>
                  <a:pt x="90000" y="60000"/>
                </a:lnTo>
                <a:moveTo>
                  <a:pt x="0" y="120000"/>
                </a:moveTo>
                <a:lnTo>
                  <a:pt x="60000" y="120000"/>
                </a:lnTo>
              </a:path>
            </a:pathLst>
          </a:custGeom>
          <a:solidFill>
            <a:srgbClr val="FFFFFF"/>
          </a:solidFill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6"/>
          <p:cNvSpPr txBox="1"/>
          <p:nvPr/>
        </p:nvSpPr>
        <p:spPr>
          <a:xfrm>
            <a:off x="4572000" y="1714500"/>
            <a:ext cx="37149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2530"/>
                </a:solidFill>
                <a:latin typeface="Inter"/>
                <a:ea typeface="Inter"/>
                <a:cs typeface="Inter"/>
                <a:sym typeface="Inter"/>
              </a:rPr>
              <a:t>Готовы ответить на вопросы</a:t>
            </a:r>
            <a:endParaRPr b="1" sz="2200">
              <a:solidFill>
                <a:srgbClr val="1A253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600"/>
              </a:spcAft>
              <a:buNone/>
            </a:pPr>
            <a:r>
              <a:rPr b="0" lang="en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Будем рады обсудить детали проекта, услышать ваши отзывы и ответить на все интересующие вопросы.</a:t>
            </a:r>
            <a:endParaRPr b="0" sz="11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82" name="Google Shape;582;p26"/>
          <p:cNvGrpSpPr/>
          <p:nvPr/>
        </p:nvGrpSpPr>
        <p:grpSpPr>
          <a:xfrm>
            <a:off x="3505200" y="4210050"/>
            <a:ext cx="4000500" cy="190500"/>
            <a:chOff x="76200" y="19050"/>
            <a:chExt cx="4000500" cy="190500"/>
          </a:xfrm>
        </p:grpSpPr>
        <p:sp>
          <p:nvSpPr>
            <p:cNvPr id="583" name="Google Shape;583;p26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81B2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6"/>
            <p:cNvSpPr txBox="1"/>
            <p:nvPr/>
          </p:nvSpPr>
          <p:spPr>
            <a:xfrm>
              <a:off x="266700" y="190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Открыты к сотрудничеству и дискуссии</a:t>
              </a:r>
              <a:endParaRPr b="0" sz="80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